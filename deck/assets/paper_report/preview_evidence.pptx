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연구 의의와 차별성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연구 의의 · 조사 범위 2019–2026 · 영문 문헌 위주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" y="1325880"/>
            <a:ext cx="722376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904" y="1325880"/>
            <a:ext cx="138988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항목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64384" y="1325880"/>
            <a:ext cx="26700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확인한 선행 연구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99024" y="1325880"/>
            <a:ext cx="26700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이 연구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904" y="1783080"/>
            <a:ext cx="7223760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904" y="1783080"/>
            <a:ext cx="138988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평가 지역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4384" y="1783080"/>
            <a:ext cx="267004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학습 지역 안,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무작위 교차검증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99024" y="1783080"/>
            <a:ext cx="267004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지역 홀드아웃,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100 km 완충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2468880"/>
            <a:ext cx="138988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라벨 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4384" y="2468880"/>
            <a:ext cx="267004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한 조건(0개 또는 전량)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99024" y="2468880"/>
            <a:ext cx="267004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0개부터 전량까지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3154680"/>
            <a:ext cx="138988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물리 기준선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4384" y="3154680"/>
            <a:ext cx="267004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없음 또는 고정 계수 하나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9024" y="3154680"/>
            <a:ext cx="267004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원천 계수와 같은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라벨 재보정 계수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904" y="3840480"/>
            <a:ext cx="722376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9904" y="4041648"/>
            <a:ext cx="7223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약어  </a:t>
            </a: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ALT 활동층 두께, TDD 융해 도일, ML 기계학습, CI 신뢰구간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새 지역의 라벨 수에 따른 학습·평가·추가 관측 워크플로 제시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연구 흐름과 실험 묶음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연구 흐름 · 2026-06-30부터 2026-10-04까지 · 실험 묶음 47개와 추가 등록 10묶음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3</a:t>
            </a:r>
          </a:p>
        </p:txBody>
      </p:sp>
      <p:pic>
        <p:nvPicPr>
          <p:cNvPr id="5" name="Picture 4" descr="S03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1188720"/>
            <a:ext cx="10972800" cy="475488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대회 결과에서 지역 홀드아웃 전이 시험과 워크플로 시험으로 확장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라벨 수 구간별 결과 요지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연구 개요 · 전이 시험과 지역 내 시험 · 각 행의 근거는 해당 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" y="128016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904" y="1280160"/>
            <a:ext cx="2029967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라벨 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4464" y="1280160"/>
            <a:ext cx="72420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결과 요지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11104" y="1280160"/>
            <a:ext cx="120700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근거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904" y="1737360"/>
            <a:ext cx="10972800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904" y="1737360"/>
            <a:ext cx="202996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0개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4464" y="1737360"/>
            <a:ext cx="724204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2 cm 넘게 악화된 대상, 물리 유사라벨 증강 2개와 직접 ML 18개(사후 서술)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11104" y="1737360"/>
            <a:ext cx="120700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2부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2423160"/>
            <a:ext cx="202996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3–10개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4464" y="2423160"/>
            <a:ext cx="724204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주 4지역 평균 이득의 대부분이 계수 재보정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11104" y="2423160"/>
            <a:ext cx="120700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3부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3108960"/>
            <a:ext cx="202996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40–160개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4464" y="3108960"/>
            <a:ext cx="724204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교차검증 선정 규칙이 고정 레시피에 비열등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11104" y="3108960"/>
            <a:ext cx="120700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4부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3794760"/>
            <a:ext cx="202996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수백–수천 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4464" y="3794760"/>
            <a:ext cx="724204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알래스카 0.54 cm 감소, 기후 격자 단위 보정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11104" y="3794760"/>
            <a:ext cx="120700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5부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" y="4480560"/>
            <a:ext cx="202996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관측 위치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4464" y="4480560"/>
            <a:ext cx="724204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분산 배치 효과는 지역에 따라 다름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11104" y="4480560"/>
            <a:ext cx="120700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6부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904" y="516636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라벨 수에 따라 물리 정보의 역할과 권고 방법이 달라짐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입력 자료와 처리 단위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1부 · 공변량 25종(지형 6, 기후 8, 토양 9, 위성 ALT 2) · 라벨은 1 km 셀 단위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6</a:t>
            </a:r>
          </a:p>
        </p:txBody>
      </p:sp>
      <p:pic>
        <p:nvPicPr>
          <p:cNvPr id="5" name="Picture 4" descr="S06_spatial_sca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1188720"/>
            <a:ext cx="7223760" cy="44805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8107984" y="1645920"/>
            <a:ext cx="347472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07984" y="1645920"/>
            <a:ext cx="22128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자료 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0016" y="1645920"/>
            <a:ext cx="93268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행 수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07984" y="2103120"/>
            <a:ext cx="3474720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07984" y="2103120"/>
            <a:ext cx="2212848" cy="72237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초기 통합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0016" y="2103120"/>
            <a:ext cx="932688" cy="72237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17,423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7984" y="2825496"/>
            <a:ext cx="2212848" cy="72237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라벨 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0016" y="2825496"/>
            <a:ext cx="932688" cy="72237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17,572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984" y="3547872"/>
            <a:ext cx="2212848" cy="72237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라벨 정의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정제(본 실험)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50016" y="3547872"/>
            <a:ext cx="932688" cy="72237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17,572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984" y="4270248"/>
            <a:ext cx="2212848" cy="72237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새 지역 추가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50016" y="4270248"/>
            <a:ext cx="932688" cy="72237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18,088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7984" y="4992624"/>
            <a:ext cx="2212848" cy="72237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본 실험 직접 라벨 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0016" y="4992624"/>
            <a:ext cx="932688" cy="72237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17,467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07984" y="5715000"/>
            <a:ext cx="347472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입력은 1 km 셀 단위, 정보 해상도는 기후 격자 단위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검증 설계에 따른 오차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1부 · 다섯 지역 등가중 평균 · 직접 ML(CatBoost)과 Stefan 최소제곱 · 검증 단계 8개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8</a:t>
            </a:r>
          </a:p>
        </p:txBody>
      </p:sp>
      <p:pic>
        <p:nvPicPr>
          <p:cNvPr id="5" name="Picture 4" descr="S08_validation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1188720"/>
            <a:ext cx="10972800" cy="466344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직접 ML 오차만 검증 설계에 따라 10.34 cm 증가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Stefan 기준선과 물리 잔차 결합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1부 · 레나델타 실제 라벨 · 라벨 10개 재보정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9</a:t>
            </a:r>
          </a:p>
        </p:txBody>
      </p:sp>
      <p:pic>
        <p:nvPicPr>
          <p:cNvPr id="5" name="Picture 4" descr="S09_stefan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1188720"/>
            <a:ext cx="1097280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904" y="55778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E Stefan 계수, TDD 융해 도일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라벨로 고치는 대상은 Stefan 계수와 잔차의 두 가지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비교한 방법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1부 · 방법 5계열 · 학습기 10종(주 학습기 CatBoost)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" y="12344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904" y="1234440"/>
            <a:ext cx="257860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방법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3104" y="1234440"/>
            <a:ext cx="367588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물리 정보의 위치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93584" y="1234440"/>
            <a:ext cx="422452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ML이 배우는 대상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904" y="1691640"/>
            <a:ext cx="10972800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904" y="1691640"/>
            <a:ext cx="257860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Stefan 기준선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3104" y="1691640"/>
            <a:ext cx="367588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예측 자체(E √TDD)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3584" y="1691640"/>
            <a:ext cx="422452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없음, 계수만 라벨로 보정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2377440"/>
            <a:ext cx="257860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물리 유사라벨 증강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3104" y="2377440"/>
            <a:ext cx="367588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학습 자료의 유사라벨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3584" y="2377440"/>
            <a:ext cx="422452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실측과 유사라벨에서 ALT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3063240"/>
            <a:ext cx="257860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물리 잔차 결합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3104" y="3063240"/>
            <a:ext cx="367588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A851B"/>
                </a:solidFill>
                <a:latin typeface="Pretendard Medium"/>
                <a:ea typeface="Pretendard Medium"/>
                <a:cs typeface="Pretendard Medium"/>
              </a:rPr>
              <a:t>기본 답(앵커)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3584" y="3063240"/>
            <a:ext cx="422452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실측과 Stefan의 차이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3749039"/>
            <a:ext cx="257860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물리 입력 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3104" y="3749039"/>
            <a:ext cx="367588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입력 열 하나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3584" y="3749039"/>
            <a:ext cx="422452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물리 열을 포함한 ALT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" y="4434840"/>
            <a:ext cx="257860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직접 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3104" y="4434840"/>
            <a:ext cx="367588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쓰지 않음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3584" y="4434840"/>
            <a:ext cx="422452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공변량에서 ALT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904" y="51206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9904" y="5321807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물리 잔차 결합의 예측은 Stefan + λ × 잔차이고, 배운 잔차가 없으면 Stefan으로 돌아감 (λ 잔차 가중)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물리 정보를 쓰는 위치에 따라 방법을 5계열로 구분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대회 결과와 줄일 수 있는 오차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5부 · 알래스카 지역 안 · 오차 하한 11.31 cm 위의 오차 제곱 · 대회 설정과 이번 시험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20</a:t>
            </a:r>
          </a:p>
        </p:txBody>
      </p:sp>
      <p:pic>
        <p:nvPicPr>
          <p:cNvPr id="5" name="Picture 4" descr="S20_contest_vs_str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1188720"/>
            <a:ext cx="10972800" cy="420624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줄일 수 있는 오차 제곱 감소, 대회 설정 39%와 이번 시험 19%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독립 지역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7부 · 약관 확인분 · 얕은 레짐 5지역(주 4지역과 러시아 중부) · 티베트는 따로 · 교차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24</a:t>
            </a:r>
          </a:p>
        </p:txBody>
      </p:sp>
      <p:pic>
        <p:nvPicPr>
          <p:cNvPr id="5" name="Picture 4" descr="S24_independent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464" y="1417320"/>
            <a:ext cx="5349240" cy="438912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러시아 중부를 더한 5지역에서도 라벨 40개까지 직접 ML 개선 지역 없음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예측 구간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7부 · 라벨 0개 · 학습에서 뺀 주 4지역 · 목표 포함률 90% · 보조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25</a:t>
            </a:r>
          </a:p>
        </p:txBody>
      </p:sp>
      <p:pic>
        <p:nvPicPr>
          <p:cNvPr id="5" name="Picture 4" descr="S25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1188720"/>
            <a:ext cx="10972800" cy="438912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라벨 0개 포함률, 지역 단위 보정 0.86과 보통 ML 구간 0.32–0.73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라벨 수별 워크플로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8부 · 워크플로 · 구간별 근거 풀 표시 · 지역 내·워크플로 시험은 결과 열람 뒤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26</a:t>
            </a:r>
          </a:p>
        </p:txBody>
      </p:sp>
      <p:pic>
        <p:nvPicPr>
          <p:cNvPr id="5" name="Picture 4" descr="S26_workflow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1188720"/>
            <a:ext cx="10972800" cy="475488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라벨 수 구간마다 권고 방법과 진단이 다름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결론 · 근거 그림 3개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27</a:t>
            </a:r>
          </a:p>
        </p:txBody>
      </p:sp>
      <p:pic>
        <p:nvPicPr>
          <p:cNvPr id="5" name="Picture 4" descr="S27_workflow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1188720"/>
            <a:ext cx="3474720" cy="310896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라벨이 늘수록 물리식, 재보정, 교차검증 선정, 물리 잔차 결합으로 전환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원고 구성과 분량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9부 · Scientific Reports · 본문(서론, 결과, 고찰) 4500단어 이하 · 영문판과 국문판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29</a:t>
            </a:r>
          </a:p>
        </p:txBody>
      </p:sp>
      <p:pic>
        <p:nvPicPr>
          <p:cNvPr id="5" name="Picture 4" descr="S29_word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1188720"/>
            <a:ext cx="7223760" cy="434340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8107984" y="1645920"/>
            <a:ext cx="347472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107984" y="1645920"/>
            <a:ext cx="93268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항목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05264" y="1645920"/>
            <a:ext cx="22128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한도와 현재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107984" y="2103120"/>
            <a:ext cx="3474720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07984" y="2103120"/>
            <a:ext cx="932688" cy="6949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초록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05264" y="2103120"/>
            <a:ext cx="2212848" cy="6949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200단어 이하,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계획 196–199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7984" y="2798063"/>
            <a:ext cx="932688" cy="6949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표시 항목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05264" y="2798063"/>
            <a:ext cx="2212848" cy="6949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8개 이하, 현재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7984" y="3493008"/>
            <a:ext cx="932688" cy="6949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참고문헌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05264" y="3493008"/>
            <a:ext cx="2212848" cy="6949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60편 권고,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계획 71–72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07984" y="4187952"/>
            <a:ext cx="932688" cy="6949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조판 쪽수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5264" y="4187952"/>
            <a:ext cx="2212848" cy="6949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11쪽 권고,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16–17쪽 추정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7984" y="4882896"/>
            <a:ext cx="932688" cy="6949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그림 설명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5264" y="4882896"/>
            <a:ext cx="2212848" cy="6949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350단어 이하,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초안 268–343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107984" y="5577840"/>
            <a:ext cx="347472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결과 절을 약 2800단어로 줄이고 고찰 약 850단어를 새로 작성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결과 절과 본문 표시 항목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9부 · 결과 절 8개를 라벨 수 순서로 · 그림 7개와 표 1개 · 현재 그림판은 그대로 두고 재구성판은 비교 폴더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30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" y="12344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904" y="1234440"/>
            <a:ext cx="2395727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결과 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0224" y="1234440"/>
            <a:ext cx="34015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다루는 내용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6384" y="1234440"/>
            <a:ext cx="166420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표시 항목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65184" y="1234440"/>
            <a:ext cx="2852927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결과 지도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904" y="1691640"/>
            <a:ext cx="10972800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904" y="1691640"/>
            <a:ext cx="239572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평가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0224" y="1691640"/>
            <a:ext cx="340156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자료, 시험지, 검증 사다리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6384" y="1691640"/>
            <a:ext cx="166420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그림 1, 표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5184" y="1691640"/>
            <a:ext cx="285292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자료·설계 지도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2377440"/>
            <a:ext cx="239572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라벨 0–10개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0224" y="2377440"/>
            <a:ext cx="340156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물리 정보, 재보정, 결합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6384" y="2377440"/>
            <a:ext cx="166420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그림 2, 3,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5184" y="2377440"/>
            <a:ext cx="285292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대상별 오차 변화 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3063240"/>
            <a:ext cx="239572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라벨 수십–수백 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70224" y="3063240"/>
            <a:ext cx="340156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방법 선정과 이득의 조건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6384" y="3063240"/>
            <a:ext cx="166420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그림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5184" y="3063240"/>
            <a:ext cx="285292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선정 결과 지도(보충)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" y="3749039"/>
            <a:ext cx="239572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라벨이 많은 지역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0224" y="3749039"/>
            <a:ext cx="340156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이득의 크기와 출처, 워크플로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6384" y="3749039"/>
            <a:ext cx="166420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그림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5184" y="3749039"/>
            <a:ext cx="285292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보정량 지도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" y="4434840"/>
            <a:ext cx="239572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위치, 독립 지역, 구간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70224" y="4434840"/>
            <a:ext cx="340156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배치 전략, 일반화, 예측 구간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36384" y="4434840"/>
            <a:ext cx="166420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그림 5, 6, 표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65184" y="4434840"/>
            <a:ext cx="285292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선정 지점 지도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904" y="51206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본문 표시 항목 8개 안에서 결과 절마다 결과 지도 배치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초록의 시험 결과 표기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9부 · 결정 사항 · 지역 내·워크플로 시험과 추가 실험 결과를 초록에 쓰는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31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" y="12344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904" y="1234440"/>
            <a:ext cx="2029967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선택지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4464" y="1234440"/>
            <a:ext cx="2944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초록 표기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3424" y="1234440"/>
            <a:ext cx="24871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장점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65184" y="1234440"/>
            <a:ext cx="2852927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단점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904" y="1691640"/>
            <a:ext cx="10972800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904" y="1691640"/>
            <a:ext cx="2029967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4464" y="1691640"/>
            <a:ext cx="294436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해당 문장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3424" y="1691640"/>
            <a:ext cx="248716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등록 규칙 그대로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5184" y="1691640"/>
            <a:ext cx="2852927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주제와 초록이 어긋남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2606040"/>
            <a:ext cx="2029967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EA851B"/>
                </a:solidFill>
                <a:latin typeface="Pretendard Medium"/>
                <a:ea typeface="Pretendard Medium"/>
                <a:cs typeface="Pretendard Medium"/>
              </a:rPr>
              <a:t>수치만(기본안)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4464" y="2606040"/>
            <a:ext cx="294436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수치와 조건, 판정어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13424" y="2606040"/>
            <a:ext cx="248716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주제 반영, 규칙 유지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65184" y="2606040"/>
            <a:ext cx="2852927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차이의 의미 판단이 어려움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3520440"/>
            <a:ext cx="2029967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판정어 포함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4464" y="3520440"/>
            <a:ext cx="294436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'오차가 작았다' 표현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3424" y="3520440"/>
            <a:ext cx="248716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가장 읽기 쉬움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5184" y="3520440"/>
            <a:ext cx="2852927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결과 열람 뒤 규칙 개정 필요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904" y="44348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9904" y="4636007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예문(수치만)  </a:t>
            </a: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Within Alaska, residual ML reached 13.9 against 14.4 cm RMSE for recalibrated Stefan (1000 labels).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초록의 지역 내 시험 결과는 판정어 없이 수치만 표기(기본안)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추가 실험의 원고 자리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9부 · 추가 실험 10묶음 · 2026-10-04 사전 등록 · 모두 결과 열람 뒤 설계 · 결과 대기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32</a:t>
            </a:r>
          </a:p>
        </p:txBody>
      </p:sp>
      <p:pic>
        <p:nvPicPr>
          <p:cNvPr id="5" name="Picture 4" descr="S32_registered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1188720"/>
            <a:ext cx="10972800" cy="475488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본문 자리 4묶음과 보충 자료 6묶음, 결과 전에 배치 고정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본문 자리 추가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9부 · 본문 자리 4묶음 · 등록 완료, 결과 대기 · 결과 문장은 등록한 해석 문장으로 채움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33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" y="12344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904" y="1234440"/>
            <a:ext cx="257860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실험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53104" y="1234440"/>
            <a:ext cx="49560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3744" y="1234440"/>
            <a:ext cx="2944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원고 자리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904" y="1691640"/>
            <a:ext cx="10972800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904" y="1691640"/>
            <a:ext cx="257860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재보정 몫 분리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3104" y="1691640"/>
            <a:ext cx="495604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재보정 너머 ML 몫과 계수 오차의 관계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3744" y="1691640"/>
            <a:ext cx="294436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결과 3절, 그림 4d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2606040"/>
            <a:ext cx="257860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워크플로 순차 적용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3104" y="2606040"/>
            <a:ext cx="495604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배치·진단·선정 순차 적용과 고정 레시피의 오차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3744" y="2606040"/>
            <a:ext cx="294436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결과 4절과 6절, 그림 7e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3520440"/>
            <a:ext cx="257860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기존 ALT 지도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53104" y="3520440"/>
            <a:ext cx="495604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라벨 0에서 기존 지도와 원천 계수 Stefan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3744" y="3520440"/>
            <a:ext cx="294436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결과 2절, 그림 6c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4434840"/>
            <a:ext cx="257860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검증 사다리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53104" y="4434840"/>
            <a:ext cx="495604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지역별 검증 방식에 따른 오차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3744" y="4434840"/>
            <a:ext cx="294436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결과 1절, 그림 1e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904" y="53492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본문 자리 4묶음의 결과에 따라 결과 1–4절과 6절 문장 확정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남은 결정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9부 · 원고 작성 전 결정 · 사용자 결정 전 기본값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34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" y="12344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904" y="1234440"/>
            <a:ext cx="276148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35984" y="1234440"/>
            <a:ext cx="440740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선택지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7984" y="1234440"/>
            <a:ext cx="3310127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결정 전 기본값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904" y="1691640"/>
            <a:ext cx="10972800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904" y="1691640"/>
            <a:ext cx="276148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논문 제목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5984" y="1691640"/>
            <a:ext cx="440740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임시 제목 유지, 주장형 한 문장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7984" y="1691640"/>
            <a:ext cx="3310127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임시 제목(대회 제목의 영문 번역)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2423160"/>
            <a:ext cx="276148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그림 배치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5984" y="2423160"/>
            <a:ext cx="440740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현재판, 재구성판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7984" y="2423160"/>
            <a:ext cx="3310127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두 판 비교 뒤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3154680"/>
            <a:ext cx="276148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초록 표기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984" y="3154680"/>
            <a:ext cx="440740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제외, 수치만, 판정어 포함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07984" y="3154680"/>
            <a:ext cx="3310127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수치만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3886200"/>
            <a:ext cx="276148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저자·소속, LLM 사용 진술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35984" y="3886200"/>
            <a:ext cx="440740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미정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7984" y="3886200"/>
            <a:ext cx="3310127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자리표시로 비움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" y="4617720"/>
            <a:ext cx="276148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덱 여백과 본문 글자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35984" y="4617720"/>
            <a:ext cx="440740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확정값 0.52 in와 12.5 pt,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지침값 0.667 in와 18 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7984" y="4617720"/>
            <a:ext cx="3310127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지침값으로 시안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904" y="53492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제목, 그림 배치, 초록 표기, 저자 정보의 결정이 원고 작성 전 필요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판정 단어와 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· 4분 판정 · 두 가중 95% 신뢰구간 · 블록 재표집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" y="12344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904" y="1234440"/>
            <a:ext cx="2395727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표기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70224" y="1234440"/>
            <a:ext cx="824788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조건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" y="1691640"/>
            <a:ext cx="10972800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904" y="1691640"/>
            <a:ext cx="239572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오차 감소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0224" y="1691640"/>
            <a:ext cx="824788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셀 가중과 블록 등가중 95% 신뢰구간이 모두 0 아래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2377440"/>
            <a:ext cx="239572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오차 증가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0224" y="2377440"/>
            <a:ext cx="824788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두 신뢰구간이 모두 0 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3063240"/>
            <a:ext cx="239572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동등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70224" y="3063240"/>
            <a:ext cx="824788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두 신뢰구간이 모두 ±0.5 cm 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3749039"/>
            <a:ext cx="239572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미결정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0224" y="3749039"/>
            <a:ext cx="824788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그 밖의 경우, 차이를 확인하지 못함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" y="4434840"/>
            <a:ext cx="2395727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사후 서술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0224" y="4434840"/>
            <a:ext cx="8247888" cy="685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결과를 본 뒤 계산한 값, 판정 단어 없음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904" y="51206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09904" y="5321807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SemiBold"/>
                <a:ea typeface="Pretendard SemiBold"/>
                <a:cs typeface="Pretendard SemiBold"/>
              </a:rPr>
              <a:t>분할 독립 가정 의존  </a:t>
            </a: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지역 블록 공통 재표집 신뢰구간에서 판정이 달라지는 대비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두 가중 CI가 같은 쪽일 때만 오차 감소와 오차 증가로 표기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라벨 0의 물리 기준선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· 라벨 0개 · 주 4지역 평균 · 기준선 강도 점검 · 주 CI 기준, 분할 독립 가정 의존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3</a:t>
            </a:r>
          </a:p>
        </p:txBody>
      </p:sp>
      <p:pic>
        <p:nvPicPr>
          <p:cNvPr id="5" name="Picture 4" descr="AP3_label0_base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1188720"/>
            <a:ext cx="10972800" cy="475488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연도 정합 Stefan이 원천 계수 Stefan보다 오차 1.00 cm 작음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· 결과 해석의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" y="12344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904" y="1234440"/>
            <a:ext cx="440740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1904" y="1234440"/>
            <a:ext cx="623620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결과 해석에 주는 영향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" y="1691640"/>
            <a:ext cx="10972800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904" y="1691640"/>
            <a:ext cx="440740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학습 원천의 78–94%가 알래스카 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81904" y="1691640"/>
            <a:ext cx="623620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주 4지역 평균과 지역별 행을 함께 보고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2606040"/>
            <a:ext cx="440740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확인적 독립 지역 4–5개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904" y="2606040"/>
            <a:ext cx="623620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지역 일반 문장 대신 지역 수를 밝힘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3520440"/>
            <a:ext cx="440740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지역 내 시험은 결과 열람 뒤 설계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81904" y="3520440"/>
            <a:ext cx="6236208" cy="9144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초록에는 판정어 없이 수치만, 본문에 표지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904" y="44348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주장의 범위는 주 4지역과 알래스카 지역 안 결과로 한정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알래스카 검증 방식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· 알래스카 지역 안 · 6겹 · seed 3개 점 추정 · 무작위 셀, 지점, 0.5° 블록, kNNDM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5</a:t>
            </a:r>
          </a:p>
        </p:txBody>
      </p:sp>
      <p:pic>
        <p:nvPicPr>
          <p:cNvPr id="5" name="Picture 4" descr="AP5_cv_sc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1188720"/>
            <a:ext cx="10972800" cy="475488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직접 CatBoost 오차만 검증 방식에 따라 11.55–17.91 cm로 변화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전이 시험 묶음의 목적과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· 전이 시험 · 목적, 입력과 산출, 결과와 의미 · 경로는 스펙 파일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6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" y="12344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904" y="1234440"/>
            <a:ext cx="2029967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시험 묶음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04464" y="1234440"/>
            <a:ext cx="276148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0544" y="1234440"/>
            <a:ext cx="2395727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입력과 산출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0864" y="1234440"/>
            <a:ext cx="31272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결과와 의미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904" y="1691640"/>
            <a:ext cx="10972800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904" y="1691640"/>
            <a:ext cx="2029967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전이 라벨 수 격자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4464" y="1691640"/>
            <a:ext cx="276148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라벨 수별 방법 비교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0544" y="1691640"/>
            <a:ext cx="2395727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정제 표, 대상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27개 / 판정 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864" y="1691640"/>
            <a:ext cx="312724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직접 ML 개선 지역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0/4, 물리식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2514600"/>
            <a:ext cx="2029967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결합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구조·위약·기준선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4464" y="2514600"/>
            <a:ext cx="276148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물리 정보의 출처와 위치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0544" y="2514600"/>
            <a:ext cx="2395727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라벨 수 격자 / 판정 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864" y="2514600"/>
            <a:ext cx="312724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위약 8대비 중 7개 오차 감소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3337560"/>
            <a:ext cx="2029967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학습기 확장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4464" y="3337560"/>
            <a:ext cx="276148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학습기 의존 점검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0544" y="3337560"/>
            <a:ext cx="2395727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같은 분할 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학습기별 판정 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864" y="3337560"/>
            <a:ext cx="312724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두 CI 일치 5종 오차 증가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" y="4160520"/>
            <a:ext cx="2029967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새 독립 지역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4464" y="4160520"/>
            <a:ext cx="276148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새 지역에서 결론 유지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0544" y="4160520"/>
            <a:ext cx="2395727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새 지역 표 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약관 확인분 판정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864" y="4160520"/>
            <a:ext cx="312724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5지역에서 라벨 0–40 판정 유지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" y="4983480"/>
            <a:ext cx="2029967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예측 구간·초록 대비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4464" y="4983480"/>
            <a:ext cx="276148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구간 포함률, 초록 문구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30544" y="4983480"/>
            <a:ext cx="2395727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전이 산출 / 구간·초록 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0864" y="4983480"/>
            <a:ext cx="312724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계층 구간 평균 0.86, 보장 없음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904" y="58064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전이 시험 묶음 모두 판정 기록 완료, 새 지역과 예측 구간은 보충 자료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지역 내·워크플로 시험의 목적과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· 모두 결과 열람 뒤 설계 · 관측 우선순위 지도는 등록 규칙상 미발행 · 경로는 스펙 파일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" y="12344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904" y="1234440"/>
            <a:ext cx="22128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시험 묶음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7344" y="1234440"/>
            <a:ext cx="257860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0544" y="1234440"/>
            <a:ext cx="2395727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입력과 산출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90864" y="1234440"/>
            <a:ext cx="31272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결과와 의미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904" y="1691640"/>
            <a:ext cx="10972800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09904" y="1691640"/>
            <a:ext cx="221284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라벨 0 위험표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7344" y="1691640"/>
            <a:ext cx="257860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대상별 악화 분포 서술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0544" y="1691640"/>
            <a:ext cx="2395727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전이 곡선 / 위험표(사후)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0864" y="1691640"/>
            <a:ext cx="312724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2 cm 넘게 악화 2개와 18개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2514600"/>
            <a:ext cx="221284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지역 내 곡선·하위 군집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7344" y="2514600"/>
            <a:ext cx="257860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라벨이 많을 때 ML 이득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0544" y="2514600"/>
            <a:ext cx="2395727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세 지역, 분할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25회 / 판정 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864" y="2514600"/>
            <a:ext cx="312724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알래스카 라벨 1000개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0.54 cm 감소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3337560"/>
            <a:ext cx="221284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라벨 위치 전략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87344" y="3337560"/>
            <a:ext cx="257860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다음 라벨 배치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0544" y="3337560"/>
            <a:ext cx="2395727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지역 내·전이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대상 / 판정 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864" y="3337560"/>
            <a:ext cx="312724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캐나다 오차 감소,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레나델타 오차 증가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904" y="4160520"/>
            <a:ext cx="221284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선정 규칙과 편향 진단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87344" y="4160520"/>
            <a:ext cx="257860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라벨 수십 개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이상 방법 선정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30544" y="4160520"/>
            <a:ext cx="2395727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대상 30개 /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선정 횟수와 판정 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0864" y="4160520"/>
            <a:ext cx="312724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라벨 40개와 160개 비열등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" y="4983480"/>
            <a:ext cx="221284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앵커·이득 분해·외삽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87344" y="4983480"/>
            <a:ext cx="257860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이득의 공간 규모와 외삽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30544" y="4983480"/>
            <a:ext cx="2395727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지역 내·전이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분할 / 분해 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90864" y="4983480"/>
            <a:ext cx="3127248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격자 사이 약 99%,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외삽 판정 불가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09904" y="58064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지역 내·워크플로 시험 8묶음 가운데 기후 외삽만 판정 불가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원천 교차검증 조정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· 신경망 4종 · 조정판 − 기본판 · 라벨 0, 10개와 전량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8</a:t>
            </a:r>
          </a:p>
        </p:txBody>
      </p:sp>
      <p:pic>
        <p:nvPicPr>
          <p:cNvPr id="5" name="Picture 4" descr="AP8_nn_tu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" y="1188720"/>
            <a:ext cx="10972800" cy="4754880"/>
          </a:xfrm>
          <a:prstGeom prst="rect">
            <a:avLst/>
          </a:prstGeom>
        </p:spPr>
      </p:pic>
      <p:cxnSp>
        <p:nvCxnSpPr>
          <p:cNvPr id="6" name="Connector 5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원천 교차검증 조정은 신경망 전이 오차를 줄이지 않음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보충 자료 자리 추가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· 보충 자료 6묶음 · 등록 완료, 결과 대기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" y="12344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904" y="1234440"/>
            <a:ext cx="29443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실험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18864" y="1234440"/>
            <a:ext cx="49560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질문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39504" y="1234440"/>
            <a:ext cx="257860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원고 자리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904" y="1691640"/>
            <a:ext cx="10972800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09904" y="1691640"/>
            <a:ext cx="294436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다중 물리식 적층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8864" y="1691640"/>
            <a:ext cx="495604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라벨 가중 적층과 재보정 Stefan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9504" y="1691640"/>
            <a:ext cx="257860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결과 3절과 4절 보충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2423160"/>
            <a:ext cx="294436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배치 절차 결정과 학습형 정책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8864" y="2423160"/>
            <a:ext cx="495604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배치 매개변수 결정, 학습 정책 탐색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39504" y="2423160"/>
            <a:ext cx="257860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결과 6절,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904" y="3154680"/>
            <a:ext cx="294436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격자 안 해상도 입력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8864" y="3154680"/>
            <a:ext cx="495604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30–500 m 입력의 격자 안 설명 비율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39504" y="3154680"/>
            <a:ext cx="257860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결과 5절 보충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904" y="3886200"/>
            <a:ext cx="294436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독립 지역 추가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18864" y="3886200"/>
            <a:ext cx="495604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공개 자료 새 지역의 핵심 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9504" y="3886200"/>
            <a:ext cx="257860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결과 7절 보충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904" y="4617720"/>
            <a:ext cx="294436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기후 외삽·지온 보조 라벨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18864" y="4617720"/>
            <a:ext cx="495604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따뜻한 블록 외삽, 보조 라벨 가중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9504" y="4617720"/>
            <a:ext cx="257860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보충 자료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09904" y="53492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보충 자료 6묶음은 결과와 관계없이 보충 자료에 수록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219456"/>
            <a:ext cx="10287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600">
                <a:solidFill>
                  <a:srgbClr val="EA851B"/>
                </a:solidFill>
                <a:latin typeface="Pretendard ExtraBold"/>
                <a:ea typeface="Pretendard ExtraBold"/>
                <a:cs typeface="Pretendard ExtraBold"/>
              </a:rPr>
              <a:t>기타 결정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731520"/>
            <a:ext cx="10287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· 원고 작성 중 결정 · 기본값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34064" y="20116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400"/>
              </a:spcAft>
            </a:pPr>
            <a:r>
              <a:rPr sz="120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부록 10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" y="12344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09904" y="1234440"/>
            <a:ext cx="404164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결정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6144" y="1234440"/>
            <a:ext cx="6601968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4A4A4A"/>
                </a:solidFill>
                <a:latin typeface="Pretendard SemiBold"/>
                <a:ea typeface="Pretendard SemiBold"/>
                <a:cs typeface="Pretendard SemiBold"/>
              </a:rPr>
              <a:t>기본값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904" y="1691640"/>
            <a:ext cx="10972800" cy="0"/>
          </a:xfrm>
          <a:prstGeom prst="line">
            <a:avLst/>
          </a:prstGeom>
          <a:ln w="9525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09904" y="1691640"/>
            <a:ext cx="404164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참고문헌 71–72편(권고 60편)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6144" y="1691640"/>
            <a:ext cx="660196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그대로 두고 새 지역 자료 인용의 보충 이동 검토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" y="2423160"/>
            <a:ext cx="404164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지역 영문 표기, 레나델타 범위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6144" y="2423160"/>
            <a:ext cx="660196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확인 전 현재 표기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904" y="3154680"/>
            <a:ext cx="404164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워크플로 구간 이름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16144" y="3154680"/>
            <a:ext cx="660196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시험한 라벨 수(0, 3–10, 40–160, 320–1000, 전량)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904" y="3886200"/>
            <a:ext cx="404164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전망 쪽 면적 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6144" y="3886200"/>
            <a:ext cx="660196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계산 전에는 관측 지도와 리드 줄로 대신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904" y="4617720"/>
            <a:ext cx="404164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KPDC 지온 자료의 보충 수록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6144" y="4617720"/>
            <a:ext cx="6601968" cy="7315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111111"/>
                </a:solidFill>
                <a:latin typeface="Pretendard Medium"/>
                <a:ea typeface="Pretendard Medium"/>
                <a:cs typeface="Pretendard Medium"/>
              </a:rPr>
              <a:t>결정 전 보류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904" y="5349240"/>
            <a:ext cx="10972800" cy="0"/>
          </a:xfrm>
          <a:prstGeom prst="line">
            <a:avLst/>
          </a:prstGeom>
          <a:ln w="15875">
            <a:solidFill>
              <a:srgbClr val="4A4A4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904" y="6236208"/>
            <a:ext cx="10972800" cy="0"/>
          </a:xfrm>
          <a:prstGeom prst="line">
            <a:avLst/>
          </a:prstGeom>
          <a:ln w="1143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09904" y="6291072"/>
            <a:ext cx="10972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8000"/>
              </a:lnSpc>
              <a:spcAft>
                <a:spcPts val="400"/>
              </a:spcAft>
            </a:pPr>
            <a:r>
              <a:rPr sz="1500">
                <a:solidFill>
                  <a:srgbClr val="111111"/>
                </a:solidFill>
                <a:latin typeface="Pretendard ExtraBold"/>
                <a:ea typeface="Pretendard ExtraBold"/>
                <a:cs typeface="Pretendard ExtraBold"/>
              </a:rPr>
              <a:t>참고문헌, 지역 표기, 구간 이름, 전망 계산, KPDC 자료의 결정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