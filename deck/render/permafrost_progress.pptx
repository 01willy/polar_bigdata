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60920" y="0"/>
            <a:ext cx="4830775" cy="6858000"/>
          </a:xfrm>
          <a:prstGeom prst="rect">
            <a:avLst/>
          </a:prstGeom>
          <a:solidFill>
            <a:srgbClr val="0E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ero_3d_permafr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925421"/>
            <a:ext cx="4510735" cy="3007156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7360920" y="0"/>
            <a:ext cx="0" cy="6858000"/>
          </a:xfrm>
          <a:prstGeom prst="bentConnector3">
            <a:avLst/>
          </a:prstGeom>
          <a:ln w="19050">
            <a:solidFill>
              <a:srgbClr val="274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58368" y="1234440"/>
            <a:ext cx="566928" cy="82296"/>
          </a:xfrm>
          <a:prstGeom prst="rect">
            <a:avLst/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9326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spc="120">
                <a:solidFill>
                  <a:srgbClr val="2E8B9E"/>
                </a:solidFill>
                <a:latin typeface="Pretendard SemiBold"/>
                <a:ea typeface="Pretendard SemiBold"/>
                <a:cs typeface="Pretendard SemiBold"/>
              </a:rPr>
              <a:t>진행상황 보고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6400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0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영구동토 활성층 두께·얕은 3D 열구조 예측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383280"/>
            <a:ext cx="6400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C3D1DD"/>
                </a:solidFill>
                <a:latin typeface="Pretendard"/>
                <a:ea typeface="Pretendard"/>
                <a:cs typeface="Pretendard"/>
              </a:rPr>
              <a:t>다중모달 빅데이터 융합 · 정직한 평가 · 알래스카 학습 → 타 영구동토 지대 전이 검증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5806440"/>
            <a:ext cx="6217920" cy="0"/>
          </a:xfrm>
          <a:prstGeom prst="bentConnector3">
            <a:avLst/>
          </a:prstGeom>
          <a:ln w="12700">
            <a:solidFill>
              <a:srgbClr val="2A4B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5943600"/>
            <a:ext cx="6217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9FB4C6"/>
                </a:solidFill>
                <a:latin typeface="Pretendard Medium"/>
                <a:ea typeface="Pretendard Medium"/>
                <a:cs typeface="Pretendard Medium"/>
              </a:rPr>
              <a:t>2026-07-09  ·  극지 빅데이터 연구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50"/>
              </a:spcAft>
            </a:pPr>
            <a:r>
              <a:rPr sz="1150" b="0" i="0">
                <a:solidFill>
                  <a:srgbClr val="9FB4C6"/>
                </a:solidFill>
                <a:latin typeface="Pretendard Medium"/>
                <a:ea typeface="Pretendard Medium"/>
                <a:cs typeface="Pretendard Medium"/>
              </a:rPr>
              <a:t>근거: data/processed/*_results.csv  ·  색규약: design/brand_tokens.json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1087495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▍ </a:t>
            </a:r>
            <a:r>
              <a:rPr sz="1100" b="0" i="0" spc="6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108749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연구 목적과 발표 순서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463040"/>
            <a:ext cx="10874959" cy="0"/>
          </a:xfrm>
          <a:prstGeom prst="bentConnector3">
            <a:avLst/>
          </a:prstGeom>
          <a:ln w="15240">
            <a:solidFill>
              <a:srgbClr val="D5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58368" y="1746504"/>
            <a:ext cx="5074920" cy="3566160"/>
          </a:xfrm>
          <a:prstGeom prst="roundRect">
            <a:avLst>
              <a:gd name="adj" fmla="val 4500"/>
            </a:avLst>
          </a:prstGeom>
          <a:solidFill>
            <a:srgbClr val="ECF1F4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46504"/>
            <a:ext cx="73152" cy="3566160"/>
          </a:xfrm>
          <a:prstGeom prst="rect">
            <a:avLst/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spc="40">
                <a:solidFill>
                  <a:srgbClr val="1F4E79"/>
                </a:solidFill>
                <a:latin typeface="Pretendard SemiBold"/>
                <a:ea typeface="Pretendard SemiBold"/>
                <a:cs typeface="Pretendard SemiBold"/>
              </a:rPr>
              <a:t>연구 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32304"/>
            <a:ext cx="4526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16222E"/>
                </a:solidFill>
                <a:latin typeface="Pretendard"/>
                <a:ea typeface="Pretendard"/>
                <a:cs typeface="Pretendard"/>
              </a:rPr>
              <a:t>전지구 시추공 지중온도와 CALM·ABoVE 활성층 관측을 위성·재분석·지형 공변량과 융합해 활성층 두께(ALT) 2D 지도와 얕은 3D 지중 열구조·셀별 불확실성을 산출한다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0" i="0">
                <a:solidFill>
                  <a:srgbClr val="16222E"/>
                </a:solidFill>
                <a:latin typeface="Pretendard"/>
                <a:ea typeface="Pretendard"/>
                <a:cs typeface="Pretendard"/>
              </a:rPr>
              <a:t>알래스카에서 학습한 모델이 타 영구동토 지대로 전이되는지 누설을 통제한 평가로 검증한다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792224"/>
            <a:ext cx="502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59" y="1792224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연구 목적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792224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4606B"/>
                </a:solidFill>
                <a:latin typeface="Pretendard"/>
                <a:ea typeface="Pretendard"/>
                <a:cs typeface="Pretendard"/>
              </a:rPr>
              <a:t>무엇을 입력받아 무엇을 산출하는가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89320" y="2249424"/>
            <a:ext cx="5257800" cy="0"/>
          </a:xfrm>
          <a:prstGeom prst="bentConnector3">
            <a:avLst/>
          </a:prstGeom>
          <a:ln w="9525">
            <a:solidFill>
              <a:srgbClr val="E7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89320" y="2290572"/>
            <a:ext cx="502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2290572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입력 데이터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290572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4606B"/>
                </a:solidFill>
                <a:latin typeface="Pretendard"/>
                <a:ea typeface="Pretendard"/>
                <a:cs typeface="Pretendard"/>
              </a:rPr>
              <a:t>22GB+ 다중모달 · 공변량 구성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89320" y="2747772"/>
            <a:ext cx="5257800" cy="0"/>
          </a:xfrm>
          <a:prstGeom prst="bentConnector3">
            <a:avLst/>
          </a:prstGeom>
          <a:ln w="9525">
            <a:solidFill>
              <a:srgbClr val="E7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89320" y="2788920"/>
            <a:ext cx="502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2788920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모델 구조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788920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4606B"/>
                </a:solidFill>
                <a:latin typeface="Pretendard"/>
                <a:ea typeface="Pretendard"/>
                <a:cs typeface="Pretendard"/>
              </a:rPr>
              <a:t>2D·3D 파이프라인과 토너먼트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89320" y="3246120"/>
            <a:ext cx="5257800" cy="0"/>
          </a:xfrm>
          <a:prstGeom prst="bentConnector3">
            <a:avLst/>
          </a:prstGeom>
          <a:ln w="9525">
            <a:solidFill>
              <a:srgbClr val="E7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89320" y="3287268"/>
            <a:ext cx="502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3287268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정직한 평가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287268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4606B"/>
                </a:solidFill>
                <a:latin typeface="Pretendard"/>
                <a:ea typeface="Pretendard"/>
                <a:cs typeface="Pretendard"/>
              </a:rPr>
              <a:t>누설 통제 · 정보병목 진단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89320" y="3744468"/>
            <a:ext cx="5257800" cy="0"/>
          </a:xfrm>
          <a:prstGeom prst="bentConnector3">
            <a:avLst/>
          </a:prstGeom>
          <a:ln w="9525">
            <a:solidFill>
              <a:srgbClr val="E7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89320" y="3785616"/>
            <a:ext cx="502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59" y="3785616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핵심 결과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785616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4606B"/>
                </a:solidFill>
                <a:latin typeface="Pretendard"/>
                <a:ea typeface="Pretendard"/>
                <a:cs typeface="Pretendard"/>
              </a:rPr>
              <a:t>지도 · 지배 정보원 · UQ · 3D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989320" y="4242816"/>
            <a:ext cx="5257800" cy="0"/>
          </a:xfrm>
          <a:prstGeom prst="bentConnector3">
            <a:avLst/>
          </a:prstGeom>
          <a:ln w="9525">
            <a:solidFill>
              <a:srgbClr val="E7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989320" y="4283964"/>
            <a:ext cx="502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59" y="4283964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기존 연구 대비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283964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4606B"/>
                </a:solidFill>
                <a:latin typeface="Pretendard"/>
                <a:ea typeface="Pretendard"/>
                <a:cs typeface="Pretendard"/>
              </a:rPr>
              <a:t>선행연구 포지셔닝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989320" y="4741164"/>
            <a:ext cx="5257800" cy="0"/>
          </a:xfrm>
          <a:prstGeom prst="bentConnector3">
            <a:avLst/>
          </a:prstGeom>
          <a:ln w="9525">
            <a:solidFill>
              <a:srgbClr val="E7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989320" y="4782312"/>
            <a:ext cx="502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59" y="4782312"/>
            <a:ext cx="1920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다음 단계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782312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4606B"/>
                </a:solidFill>
                <a:latin typeface="Pretendard"/>
                <a:ea typeface="Pretendard"/>
                <a:cs typeface="Pretendard"/>
              </a:rPr>
              <a:t>데이터 확장 · 3D · 시각화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58368" y="6473952"/>
            <a:ext cx="10874959" cy="0"/>
          </a:xfrm>
          <a:prstGeom prst="bentConnector3">
            <a:avLst/>
          </a:prstGeom>
          <a:ln w="9525">
            <a:solidFill>
              <a:srgbClr val="E7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58368" y="6528816"/>
            <a:ext cx="7612471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F98"/>
                </a:solidFill>
                <a:latin typeface="Pretendard Medium"/>
                <a:ea typeface="Pretendard Medium"/>
                <a:cs typeface="Pretendard Medium"/>
              </a:rPr>
              <a:t>극지 빅데이터 · 영구동토 ALT/3D 열구조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70287" y="6528816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F98"/>
                </a:solidFill>
                <a:latin typeface="Pretendard Medium"/>
                <a:ea typeface="Pretendard Medium"/>
                <a:cs typeface="Pretendard Medium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1087495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▍ </a:t>
            </a:r>
            <a:r>
              <a:rPr sz="1100" b="0" i="0" spc="6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01 · 연구 목적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108749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관측·공변량 → ALT 2D 지도 · 얕은 3D 열구조 · 셀별 불확실성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463040"/>
            <a:ext cx="10874959" cy="0"/>
          </a:xfrm>
          <a:prstGeom prst="bentConnector3">
            <a:avLst/>
          </a:prstGeom>
          <a:ln w="15240">
            <a:solidFill>
              <a:srgbClr val="D5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1792224"/>
            <a:ext cx="52578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—  </a:t>
            </a:r>
            <a:r>
              <a:rPr sz="145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목표</a:t>
            </a:r>
            <a:r>
              <a:rPr sz="1450" b="0" i="0">
                <a:solidFill>
                  <a:srgbClr val="54606B"/>
                </a:solidFill>
                <a:latin typeface="Pretendard"/>
                <a:ea typeface="Pretendard"/>
                <a:cs typeface="Pretendard"/>
              </a:rPr>
              <a:t>  ALT 2D 지도 · 얕은 3D 지중 열구조(0–20m) · 셀별 불확실성을 동시에 산출한다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—  </a:t>
            </a:r>
            <a:r>
              <a:rPr sz="145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입력</a:t>
            </a:r>
            <a:r>
              <a:rPr sz="1450" b="0" i="0">
                <a:solidFill>
                  <a:srgbClr val="54606B"/>
                </a:solidFill>
                <a:latin typeface="Pretendard"/>
                <a:ea typeface="Pretendard"/>
                <a:cs typeface="Pretendard"/>
              </a:rPr>
              <a:t>  전지구 시추공 지중온도 + CALM·ABoVE ALT 관측 + 위성·재분석·지형 공변량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—  </a:t>
            </a:r>
            <a:r>
              <a:rPr sz="145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산출</a:t>
            </a:r>
            <a:r>
              <a:rPr sz="1450" b="0" i="0">
                <a:solidFill>
                  <a:srgbClr val="54606B"/>
                </a:solidFill>
                <a:latin typeface="Pretendard"/>
                <a:ea typeface="Pretendard"/>
                <a:cs typeface="Pretendard"/>
              </a:rPr>
              <a:t>  ALT 예측면(cm) + 0°C 등온면(영구동토 경계) + 90% 예측구간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—  </a:t>
            </a:r>
            <a:r>
              <a:rPr sz="145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전이</a:t>
            </a:r>
            <a:r>
              <a:rPr sz="1450" b="0" i="0">
                <a:solidFill>
                  <a:srgbClr val="54606B"/>
                </a:solidFill>
                <a:latin typeface="Pretendard"/>
                <a:ea typeface="Pretendard"/>
                <a:cs typeface="Pretendard"/>
              </a:rPr>
              <a:t>  알래스카에서 학습해 타 영구동토 지대로 일반화되는지 검증한다</a:t>
            </a:r>
          </a:p>
        </p:txBody>
      </p:sp>
      <p:pic>
        <p:nvPicPr>
          <p:cNvPr id="6" name="Picture 5" descr="research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46504"/>
            <a:ext cx="5440680" cy="33025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0" y="5122208"/>
            <a:ext cx="5440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4606B"/>
                </a:solidFill>
                <a:latin typeface="Pretendard Medium"/>
                <a:ea typeface="Pretendard Medium"/>
                <a:cs typeface="Pretendard Medium"/>
              </a:rPr>
              <a:t>연구 개념 단면: 시추공 온도·활성층·공변량을 입력해 3D 영구동토 구조를 복원한다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A7480"/>
                </a:solidFill>
                <a:latin typeface="Pretendard"/>
                <a:ea typeface="Pretendard"/>
                <a:cs typeface="Pretendard"/>
              </a:rPr>
              <a:t>근거 · outputs/figures/00_concept/research_concept.png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6473952"/>
            <a:ext cx="10874959" cy="0"/>
          </a:xfrm>
          <a:prstGeom prst="bentConnector3">
            <a:avLst/>
          </a:prstGeom>
          <a:ln w="9525">
            <a:solidFill>
              <a:srgbClr val="E7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528816"/>
            <a:ext cx="7612471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F98"/>
                </a:solidFill>
                <a:latin typeface="Pretendard Medium"/>
                <a:ea typeface="Pretendard Medium"/>
                <a:cs typeface="Pretendard Medium"/>
              </a:rPr>
              <a:t>극지 빅데이터 · 영구동토 ALT/3D 열구조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70287" y="6528816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F98"/>
                </a:solidFill>
                <a:latin typeface="Pretendard Medium"/>
                <a:ea typeface="Pretendard Medium"/>
                <a:cs typeface="Pretendard Medium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1087495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▍ </a:t>
            </a:r>
            <a:r>
              <a:rPr sz="1100" b="0" i="0" spc="6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02 · 입력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108749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22GB+ 다중모달 빅데이터 — 알래스카 학습 · 전지구 전이 구조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463040"/>
            <a:ext cx="10874959" cy="0"/>
          </a:xfrm>
          <a:prstGeom prst="bentConnector3">
            <a:avLst/>
          </a:prstGeom>
          <a:ln w="15240">
            <a:solidFill>
              <a:srgbClr val="D5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773936"/>
          <a:ext cx="5943600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83080"/>
                <a:gridCol w="1828800"/>
                <a:gridCol w="233172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데이터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역할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규모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6222E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CALM ALT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622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전이 검증 라벨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622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3,604 site-yr · 259 사이트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6222E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ABoVE ALT</a:t>
                      </a:r>
                    </a:p>
                  </a:txBody>
                  <a:tcPr marL="73152" marR="73152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622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딥러닝 학습 라벨</a:t>
                      </a:r>
                    </a:p>
                  </a:txBody>
                  <a:tcPr marL="73152" marR="73152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622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223,937 점</a:t>
                      </a:r>
                    </a:p>
                  </a:txBody>
                  <a:tcPr marL="73152" marR="73152" marT="18288" marB="18288" anchor="ctr">
                    <a:solidFill>
                      <a:srgbClr val="F4F6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6222E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InSAR ReSALT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622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약지도 사전학습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622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403.6만 점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6222E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GTN-P 지중온도</a:t>
                      </a:r>
                    </a:p>
                  </a:txBody>
                  <a:tcPr marL="73152" marR="73152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622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3D 열구조 라벨</a:t>
                      </a:r>
                    </a:p>
                  </a:txBody>
                  <a:tcPr marL="73152" marR="73152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622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10,747 점 · 260 사이트</a:t>
                      </a:r>
                    </a:p>
                  </a:txBody>
                  <a:tcPr marL="73152" marR="73152" marT="18288" marB="18288" anchor="ctr">
                    <a:solidFill>
                      <a:srgbClr val="F4F6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6222E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ERA5-Land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622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기후 공변량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622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9km · 월별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6222E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Copernicus DEM</a:t>
                      </a:r>
                    </a:p>
                  </a:txBody>
                  <a:tcPr marL="73152" marR="73152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622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지형 공변량</a:t>
                      </a:r>
                    </a:p>
                  </a:txBody>
                  <a:tcPr marL="73152" marR="73152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622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30m · 234 타일</a:t>
                      </a:r>
                    </a:p>
                  </a:txBody>
                  <a:tcPr marL="73152" marR="73152" marT="18288" marB="18288" anchor="ctr">
                    <a:solidFill>
                      <a:srgbClr val="F4F6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6222E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PolSAR / ESA CCI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622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물리관측 · prior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622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P-band 30m / 1km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global_alt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746504"/>
            <a:ext cx="4709160" cy="18160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3617411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4606B"/>
                </a:solidFill>
                <a:latin typeface="Pretendard Medium"/>
                <a:ea typeface="Pretendard Medium"/>
                <a:cs typeface="Pretendard Medium"/>
              </a:rPr>
              <a:t>CALM 전지구 관측망(259 사이트·12개국) — 전이 검증 범위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A7480"/>
                </a:solidFill>
                <a:latin typeface="Pretendard"/>
                <a:ea typeface="Pretendard"/>
                <a:cs typeface="Pretendard"/>
              </a:rPr>
              <a:t>근거 · outputs/figures/01_data/global_alt_coverage.png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4111187"/>
            <a:ext cx="2286000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0" y="4239203"/>
            <a:ext cx="64008" cy="11155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77456" y="4257491"/>
            <a:ext cx="197510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22</a:t>
            </a:r>
            <a:r>
              <a:rPr sz="1300" b="0" i="0">
                <a:solidFill>
                  <a:srgbClr val="54606B"/>
                </a:solidFill>
                <a:latin typeface="Pretendard Medium"/>
                <a:ea typeface="Pretendard Medium"/>
                <a:cs typeface="Pretendard Medium"/>
              </a:rPr>
              <a:t>  GB+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77456" y="4897571"/>
            <a:ext cx="19751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F4E79"/>
                </a:solidFill>
                <a:latin typeface="Pretendard SemiBold"/>
                <a:ea typeface="Pretendard SemiBold"/>
                <a:cs typeface="Pretendard SemiBold"/>
              </a:rPr>
              <a:t>다중모달 원자료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77456" y="5171891"/>
            <a:ext cx="19751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4606B"/>
                </a:solidFill>
                <a:latin typeface="Pretendard"/>
                <a:ea typeface="Pretendard"/>
                <a:cs typeface="Pretendard"/>
              </a:rPr>
              <a:t>위성SAR·재분석·지형·시추공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81160" y="4111187"/>
            <a:ext cx="2286000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81160" y="4239203"/>
            <a:ext cx="64008" cy="1115568"/>
          </a:xfrm>
          <a:prstGeom prst="rect">
            <a:avLst/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0616" y="4257491"/>
            <a:ext cx="197510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225,421</a:t>
            </a:r>
            <a:r>
              <a:rPr sz="1300" b="0" i="0">
                <a:solidFill>
                  <a:srgbClr val="54606B"/>
                </a:solidFill>
                <a:latin typeface="Pretendard Medium"/>
                <a:ea typeface="Pretendard Medium"/>
                <a:cs typeface="Pretendard Medium"/>
              </a:rPr>
              <a:t>  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0616" y="4897571"/>
            <a:ext cx="19751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F4E79"/>
                </a:solidFill>
                <a:latin typeface="Pretendard SemiBold"/>
                <a:ea typeface="Pretendard SemiBold"/>
                <a:cs typeface="Pretendard SemiBold"/>
              </a:rPr>
              <a:t>ALT 학습셋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0616" y="5171891"/>
            <a:ext cx="19751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4606B"/>
                </a:solidFill>
                <a:latin typeface="Pretendard"/>
                <a:ea typeface="Pretendard"/>
                <a:cs typeface="Pretendard"/>
              </a:rPr>
              <a:t>고유위치 14,348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" y="6473952"/>
            <a:ext cx="10874959" cy="0"/>
          </a:xfrm>
          <a:prstGeom prst="bentConnector3">
            <a:avLst/>
          </a:prstGeom>
          <a:ln w="9525">
            <a:solidFill>
              <a:srgbClr val="E7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6528816"/>
            <a:ext cx="7612471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F98"/>
                </a:solidFill>
                <a:latin typeface="Pretendard Medium"/>
                <a:ea typeface="Pretendard Medium"/>
                <a:cs typeface="Pretendard Medium"/>
              </a:rPr>
              <a:t>극지 빅데이터 · 영구동토 ALT/3D 열구조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70287" y="6528816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F98"/>
                </a:solidFill>
                <a:latin typeface="Pretendard Medium"/>
                <a:ea typeface="Pretendard Medium"/>
                <a:cs typeface="Pretendard Medium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1087495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▍ </a:t>
            </a:r>
            <a:r>
              <a:rPr sz="1100" b="0" i="0" spc="6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02 · 입력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108749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공변량 14종 + 물리관측 4종 · InSAR 약지도로 라벨 확장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463040"/>
            <a:ext cx="10874959" cy="0"/>
          </a:xfrm>
          <a:prstGeom prst="bentConnector3">
            <a:avLst/>
          </a:prstGeom>
          <a:ln w="15240">
            <a:solidFill>
              <a:srgbClr val="D5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58368" y="1746504"/>
            <a:ext cx="3411626" cy="178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46504"/>
            <a:ext cx="3411626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83664"/>
            <a:ext cx="304586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F4E79"/>
                </a:solidFill>
                <a:latin typeface="Pretendard SemiBold"/>
                <a:ea typeface="Pretendard SemiBold"/>
                <a:cs typeface="Pretendard SemiBold"/>
              </a:rPr>
              <a:t>지형 · DEM (6)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267712"/>
            <a:ext cx="300929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20"/>
              </a:spcAft>
            </a:pPr>
            <a:r>
              <a:rPr sz="1150" b="0" i="0">
                <a:solidFill>
                  <a:srgbClr val="1F4E79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150" b="0" i="0">
                <a:solidFill>
                  <a:srgbClr val="16222E"/>
                </a:solidFill>
                <a:latin typeface="Pretendard"/>
                <a:ea typeface="Pretendard"/>
                <a:cs typeface="Pretendard"/>
              </a:rPr>
              <a:t>고도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20"/>
              </a:spcAft>
            </a:pPr>
            <a:r>
              <a:rPr sz="1150" b="0" i="0">
                <a:solidFill>
                  <a:srgbClr val="1F4E79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150" b="0" i="0">
                <a:solidFill>
                  <a:srgbClr val="16222E"/>
                </a:solidFill>
                <a:latin typeface="Pretendard"/>
                <a:ea typeface="Pretendard"/>
                <a:cs typeface="Pretendard"/>
              </a:rPr>
              <a:t>경사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20"/>
              </a:spcAft>
            </a:pPr>
            <a:r>
              <a:rPr sz="1150" b="0" i="0">
                <a:solidFill>
                  <a:srgbClr val="1F4E79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150" b="0" i="0">
                <a:solidFill>
                  <a:srgbClr val="16222E"/>
                </a:solidFill>
                <a:latin typeface="Pretendard"/>
                <a:ea typeface="Pretendard"/>
                <a:cs typeface="Pretendard"/>
              </a:rPr>
              <a:t>사면향 sin·cos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20"/>
              </a:spcAft>
            </a:pPr>
            <a:r>
              <a:rPr sz="1150" b="0" i="0">
                <a:solidFill>
                  <a:srgbClr val="1F4E79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150" b="0" i="0">
                <a:solidFill>
                  <a:srgbClr val="16222E"/>
                </a:solidFill>
                <a:latin typeface="Pretendard"/>
                <a:ea typeface="Pretendard"/>
                <a:cs typeface="Pretendard"/>
              </a:rPr>
              <a:t>지형위치지수 TPI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20"/>
              </a:spcAft>
            </a:pPr>
            <a:r>
              <a:rPr sz="1150" b="0" i="0">
                <a:solidFill>
                  <a:srgbClr val="1F4E79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150" b="0" i="0">
                <a:solidFill>
                  <a:srgbClr val="16222E"/>
                </a:solidFill>
                <a:latin typeface="Pretendard"/>
                <a:ea typeface="Pretendard"/>
                <a:cs typeface="Pretendard"/>
              </a:rPr>
              <a:t>지표 거칠기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0034" y="1746504"/>
            <a:ext cx="3411626" cy="178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0034" y="1746504"/>
            <a:ext cx="3411626" cy="82296"/>
          </a:xfrm>
          <a:prstGeom prst="rect">
            <a:avLst/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1202" y="1883664"/>
            <a:ext cx="304586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기후 · ERA5-Land (8)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1202" y="2267712"/>
            <a:ext cx="300929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20"/>
              </a:spcAft>
            </a:pPr>
            <a:r>
              <a:rPr sz="115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150" b="0" i="0">
                <a:solidFill>
                  <a:srgbClr val="16222E"/>
                </a:solidFill>
                <a:latin typeface="Pretendard"/>
                <a:ea typeface="Pretendard"/>
                <a:cs typeface="Pretendard"/>
              </a:rPr>
              <a:t>연평균기온 MAAT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20"/>
              </a:spcAft>
            </a:pPr>
            <a:r>
              <a:rPr sz="115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150" b="0" i="0">
                <a:solidFill>
                  <a:srgbClr val="16222E"/>
                </a:solidFill>
                <a:latin typeface="Pretendard"/>
                <a:ea typeface="Pretendard"/>
                <a:cs typeface="Pretendard"/>
              </a:rPr>
              <a:t>해동도일 TDD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20"/>
              </a:spcAft>
            </a:pPr>
            <a:r>
              <a:rPr sz="115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150" b="0" i="0">
                <a:solidFill>
                  <a:srgbClr val="16222E"/>
                </a:solidFill>
                <a:latin typeface="Pretendard"/>
                <a:ea typeface="Pretendard"/>
                <a:cs typeface="Pretendard"/>
              </a:rPr>
              <a:t>동결도일 FDD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20"/>
              </a:spcAft>
            </a:pPr>
            <a:r>
              <a:rPr sz="115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150" b="0" i="0">
                <a:solidFill>
                  <a:srgbClr val="16222E"/>
                </a:solidFill>
                <a:latin typeface="Pretendard"/>
                <a:ea typeface="Pretendard"/>
                <a:cs typeface="Pretendard"/>
              </a:rPr>
              <a:t>√TDD (Stefan)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20"/>
              </a:spcAft>
            </a:pPr>
            <a:r>
              <a:rPr sz="115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150" b="0" i="0">
                <a:solidFill>
                  <a:srgbClr val="16222E"/>
                </a:solidFill>
                <a:latin typeface="Pretendard"/>
                <a:ea typeface="Pretendard"/>
                <a:cs typeface="Pretendard"/>
              </a:rPr>
              <a:t>최난·최한월 기온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20"/>
              </a:spcAft>
            </a:pPr>
            <a:r>
              <a:rPr sz="115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150" b="0" i="0">
                <a:solidFill>
                  <a:srgbClr val="16222E"/>
                </a:solidFill>
                <a:latin typeface="Pretendard"/>
                <a:ea typeface="Pretendard"/>
                <a:cs typeface="Pretendard"/>
              </a:rPr>
              <a:t>표층 토양온도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20"/>
              </a:spcAft>
            </a:pPr>
            <a:r>
              <a:rPr sz="115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150" b="0" i="0">
                <a:solidFill>
                  <a:srgbClr val="16222E"/>
                </a:solidFill>
                <a:latin typeface="Pretendard"/>
                <a:ea typeface="Pretendard"/>
                <a:cs typeface="Pretendard"/>
              </a:rPr>
              <a:t>적설수당량 SWE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1700" y="1746504"/>
            <a:ext cx="3411626" cy="178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1700" y="1746504"/>
            <a:ext cx="3411626" cy="82296"/>
          </a:xfrm>
          <a:prstGeom prst="rect">
            <a:avLst/>
          </a:prstGeom>
          <a:solidFill>
            <a:srgbClr val="6A51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2868" y="1883664"/>
            <a:ext cx="304586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A51A3"/>
                </a:solidFill>
                <a:latin typeface="Pretendard SemiBold"/>
                <a:ea typeface="Pretendard SemiBold"/>
                <a:cs typeface="Pretendard SemiBold"/>
              </a:rPr>
              <a:t>물리관측 · PHYS (4)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2868" y="2267712"/>
            <a:ext cx="300929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20"/>
              </a:spcAft>
            </a:pPr>
            <a:r>
              <a:rPr sz="1150" b="0" i="0">
                <a:solidFill>
                  <a:srgbClr val="6A51A3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150" b="0" i="0">
                <a:solidFill>
                  <a:srgbClr val="16222E"/>
                </a:solidFill>
                <a:latin typeface="Pretendard"/>
                <a:ea typeface="Pretendard"/>
                <a:cs typeface="Pretendard"/>
              </a:rPr>
              <a:t>PolSAR ALT (P-band)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20"/>
              </a:spcAft>
            </a:pPr>
            <a:r>
              <a:rPr sz="1150" b="0" i="0">
                <a:solidFill>
                  <a:srgbClr val="6A51A3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150" b="0" i="0">
                <a:solidFill>
                  <a:srgbClr val="16222E"/>
                </a:solidFill>
                <a:latin typeface="Pretendard"/>
                <a:ea typeface="Pretendard"/>
                <a:cs typeface="Pretendard"/>
              </a:rPr>
              <a:t>PolSAR 셀내 SD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20"/>
              </a:spcAft>
            </a:pPr>
            <a:r>
              <a:rPr sz="1150" b="0" i="0">
                <a:solidFill>
                  <a:srgbClr val="6A51A3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150" b="0" i="0">
                <a:solidFill>
                  <a:srgbClr val="16222E"/>
                </a:solidFill>
                <a:latin typeface="Pretendard"/>
                <a:ea typeface="Pretendard"/>
                <a:cs typeface="Pretendard"/>
              </a:rPr>
              <a:t>InSAR ALT (ReSALT)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20"/>
              </a:spcAft>
            </a:pPr>
            <a:r>
              <a:rPr sz="1150" b="0" i="0">
                <a:solidFill>
                  <a:srgbClr val="6A51A3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150" b="0" i="0">
                <a:solidFill>
                  <a:srgbClr val="16222E"/>
                </a:solidFill>
                <a:latin typeface="Pretendard"/>
                <a:ea typeface="Pretendard"/>
                <a:cs typeface="Pretendard"/>
              </a:rPr>
              <a:t>InSAR 계절 침하</a:t>
            </a:r>
          </a:p>
        </p:txBody>
      </p:sp>
      <p:pic>
        <p:nvPicPr>
          <p:cNvPr id="17" name="Picture 16" descr="weaklabel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661" y="3758184"/>
            <a:ext cx="5076372" cy="19659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8368" y="5779007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4606B"/>
                </a:solidFill>
                <a:latin typeface="Pretendard Medium"/>
                <a:ea typeface="Pretendard Medium"/>
                <a:cs typeface="Pretendard Medium"/>
              </a:rPr>
              <a:t>InSAR 약지도 403.6만 점으로 실측 대비 라벨 밀도를 확대하고 30m 세밀도를 확보(사전학습 신호)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A7480"/>
                </a:solidFill>
                <a:latin typeface="Pretendard"/>
                <a:ea typeface="Pretendard"/>
                <a:cs typeface="Pretendard"/>
              </a:rPr>
              <a:t>근거 · outputs/maps/weaklabels_overview.png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" y="6473952"/>
            <a:ext cx="10874959" cy="0"/>
          </a:xfrm>
          <a:prstGeom prst="bentConnector3">
            <a:avLst/>
          </a:prstGeom>
          <a:ln w="9525">
            <a:solidFill>
              <a:srgbClr val="E7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8368" y="6528816"/>
            <a:ext cx="7612471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F98"/>
                </a:solidFill>
                <a:latin typeface="Pretendard Medium"/>
                <a:ea typeface="Pretendard Medium"/>
                <a:cs typeface="Pretendard Medium"/>
              </a:rPr>
              <a:t>극지 빅데이터 · 영구동토 ALT/3D 열구조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70287" y="6528816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F98"/>
                </a:solidFill>
                <a:latin typeface="Pretendard Medium"/>
                <a:ea typeface="Pretendard Medium"/>
                <a:cs typeface="Pretendard Medium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1087495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▍ </a:t>
            </a:r>
            <a:r>
              <a:rPr sz="1100" b="0" i="0" spc="6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03 · 모델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108749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2D ALT 경로와 3D 조건장 경로 — 평가·보정 UQ·적용범위가 횡단한다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463040"/>
            <a:ext cx="10874959" cy="0"/>
          </a:xfrm>
          <a:prstGeom prst="bentConnector3">
            <a:avLst/>
          </a:prstGeom>
          <a:ln w="15240">
            <a:solidFill>
              <a:srgbClr val="D5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58368" y="1719072"/>
            <a:ext cx="2331720" cy="3063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19072"/>
            <a:ext cx="2331720" cy="68580"/>
          </a:xfrm>
          <a:prstGeom prst="rect">
            <a:avLst/>
          </a:prstGeom>
          <a:solidFill>
            <a:srgbClr val="546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47088"/>
            <a:ext cx="2057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4606B"/>
                </a:solidFill>
                <a:latin typeface="Pretendard SemiBold"/>
                <a:ea typeface="Pretendard SemiBold"/>
                <a:cs typeface="Pretendard SemiBold"/>
              </a:rPr>
              <a:t>관측 · 라벨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2194560"/>
            <a:ext cx="2039112" cy="475488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194560"/>
            <a:ext cx="1929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6222E"/>
                </a:solidFill>
                <a:latin typeface="Pretendard Medium"/>
                <a:ea typeface="Pretendard Medium"/>
                <a:cs typeface="Pretendard Medium"/>
              </a:rPr>
              <a:t>CALM · ABoVE ALT 관측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2779776"/>
            <a:ext cx="2039112" cy="475488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779776"/>
            <a:ext cx="1929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6222E"/>
                </a:solidFill>
                <a:latin typeface="Pretendard Medium"/>
                <a:ea typeface="Pretendard Medium"/>
                <a:cs typeface="Pretendard Medium"/>
              </a:rPr>
              <a:t>GTN-P 지중온도 0–20m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3364992"/>
            <a:ext cx="2039112" cy="475488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364992"/>
            <a:ext cx="1929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6222E"/>
                </a:solidFill>
                <a:latin typeface="Pretendard Medium"/>
                <a:ea typeface="Pretendard Medium"/>
                <a:cs typeface="Pretendard Medium"/>
              </a:rPr>
              <a:t>InSAR 약지도 403.6만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1719072"/>
            <a:ext cx="2331720" cy="3063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1719072"/>
            <a:ext cx="2331720" cy="685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92424" y="1847088"/>
            <a:ext cx="2057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F4E79"/>
                </a:solidFill>
                <a:latin typeface="Pretendard SemiBold"/>
                <a:ea typeface="Pretendard SemiBold"/>
                <a:cs typeface="Pretendard SemiBold"/>
              </a:rPr>
              <a:t>공변량 (14 + 4)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2424" y="2194560"/>
            <a:ext cx="2039112" cy="475488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47288" y="2194560"/>
            <a:ext cx="1929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6222E"/>
                </a:solidFill>
                <a:latin typeface="Pretendard Medium"/>
                <a:ea typeface="Pretendard Medium"/>
                <a:cs typeface="Pretendard Medium"/>
              </a:rPr>
              <a:t>지형 6 · DEM 30m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92424" y="2779776"/>
            <a:ext cx="2039112" cy="475488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47288" y="2779776"/>
            <a:ext cx="1929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6222E"/>
                </a:solidFill>
                <a:latin typeface="Pretendard Medium"/>
                <a:ea typeface="Pretendard Medium"/>
                <a:cs typeface="Pretendard Medium"/>
              </a:rPr>
              <a:t>기후 8 · ERA5-Land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92424" y="3364992"/>
            <a:ext cx="2039112" cy="475488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47288" y="3364992"/>
            <a:ext cx="1929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6222E"/>
                </a:solidFill>
                <a:latin typeface="Pretendard Medium"/>
                <a:ea typeface="Pretendard Medium"/>
                <a:cs typeface="Pretendard Medium"/>
              </a:rPr>
              <a:t>물리관측 4 · PolSAR/InSAR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1719072"/>
            <a:ext cx="3063240" cy="3063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89320" y="1719072"/>
            <a:ext cx="3063240" cy="68580"/>
          </a:xfrm>
          <a:prstGeom prst="rect">
            <a:avLst/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35624" y="1847088"/>
            <a:ext cx="2788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모델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35624" y="2194560"/>
            <a:ext cx="27706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 spc="50">
                <a:solidFill>
                  <a:srgbClr val="2E8B9E"/>
                </a:solidFill>
                <a:latin typeface="Pretendard SemiBold"/>
                <a:ea typeface="Pretendard SemiBold"/>
                <a:cs typeface="Pretendard SemiBold"/>
              </a:rPr>
              <a:t>2D ALT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35624" y="2432304"/>
            <a:ext cx="2770632" cy="384048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0488" y="2432304"/>
            <a:ext cx="266090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6222E"/>
                </a:solidFill>
                <a:latin typeface="Pretendard Medium"/>
                <a:ea typeface="Pretendard Medium"/>
                <a:cs typeface="Pretendard Medium"/>
              </a:rPr>
              <a:t>B0 사전학습 MLP + 미세조정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35624" y="2889504"/>
            <a:ext cx="2770632" cy="384048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0488" y="2889504"/>
            <a:ext cx="266090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6222E"/>
                </a:solidFill>
                <a:latin typeface="Pretendard Medium"/>
                <a:ea typeface="Pretendard Medium"/>
                <a:cs typeface="Pretendard Medium"/>
              </a:rPr>
              <a:t>B0b +CCI · (DL+GBM) 앙상블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35624" y="3346704"/>
            <a:ext cx="2770632" cy="384048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0488" y="3346704"/>
            <a:ext cx="266090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6222E"/>
                </a:solidFill>
                <a:latin typeface="Pretendard Medium"/>
                <a:ea typeface="Pretendard Medium"/>
                <a:cs typeface="Pretendard Medium"/>
              </a:rPr>
              <a:t>토너먼트 6모델 (GBM≈DL)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35624" y="3822191"/>
            <a:ext cx="27706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 spc="50">
                <a:solidFill>
                  <a:srgbClr val="2E8B9E"/>
                </a:solidFill>
                <a:latin typeface="Pretendard SemiBold"/>
                <a:ea typeface="Pretendard SemiBold"/>
                <a:cs typeface="Pretendard SemiBold"/>
              </a:rPr>
              <a:t>얕은 3D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35624" y="4059936"/>
            <a:ext cx="2770632" cy="384048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0488" y="4059936"/>
            <a:ext cx="266090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6222E"/>
                </a:solidFill>
                <a:latin typeface="Pretendard Medium"/>
                <a:ea typeface="Pretendard Medium"/>
                <a:cs typeface="Pretendard Medium"/>
              </a:rPr>
              <a:t>GBM 조건장 + 깊이인코딩 (NF 탈락)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72600" y="1719072"/>
            <a:ext cx="2194560" cy="3063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372600" y="1719072"/>
            <a:ext cx="2194560" cy="68580"/>
          </a:xfrm>
          <a:prstGeom prst="rect">
            <a:avLst/>
          </a:prstGeom>
          <a:solidFill>
            <a:srgbClr val="6A51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18904" y="1847088"/>
            <a:ext cx="1920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A51A3"/>
                </a:solidFill>
                <a:latin typeface="Pretendard SemiBold"/>
                <a:ea typeface="Pretendard SemiBold"/>
                <a:cs typeface="Pretendard SemiBold"/>
              </a:rPr>
              <a:t>산출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18904" y="2194560"/>
            <a:ext cx="1901952" cy="475488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73768" y="2194560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6222E"/>
                </a:solidFill>
                <a:latin typeface="Pretendard Medium"/>
                <a:ea typeface="Pretendard Medium"/>
                <a:cs typeface="Pretendard Medium"/>
              </a:rPr>
              <a:t>ALT 2D 지도 (cm)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518904" y="2779776"/>
            <a:ext cx="1901952" cy="475488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73768" y="2779776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6222E"/>
                </a:solidFill>
                <a:latin typeface="Pretendard Medium"/>
                <a:ea typeface="Pretendard Medium"/>
                <a:cs typeface="Pretendard Medium"/>
              </a:rPr>
              <a:t>얕은 3D 열큐브 · 0°C 등온면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18904" y="3364992"/>
            <a:ext cx="1901952" cy="475488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73768" y="3364992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6222E"/>
                </a:solidFill>
                <a:latin typeface="Pretendard Medium"/>
                <a:ea typeface="Pretendard Medium"/>
                <a:cs typeface="Pretendard Medium"/>
              </a:rPr>
              <a:t>셀별 90% 예측구간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3044951" y="3113532"/>
            <a:ext cx="146304" cy="27432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8A8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ight Arrow 45"/>
          <p:cNvSpPr/>
          <p:nvPr/>
        </p:nvSpPr>
        <p:spPr>
          <a:xfrm>
            <a:off x="5632703" y="3113532"/>
            <a:ext cx="301752" cy="27432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8A8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ight Arrow 46"/>
          <p:cNvSpPr/>
          <p:nvPr/>
        </p:nvSpPr>
        <p:spPr>
          <a:xfrm>
            <a:off x="9107424" y="3113532"/>
            <a:ext cx="210311" cy="27432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8A8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58368" y="4983480"/>
            <a:ext cx="10874959" cy="658368"/>
          </a:xfrm>
          <a:prstGeom prst="roundRect">
            <a:avLst>
              <a:gd name="adj" fmla="val 4500"/>
            </a:avLst>
          </a:prstGeom>
          <a:solidFill>
            <a:srgbClr val="ECF1F4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7" y="4983480"/>
            <a:ext cx="2743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4E79"/>
                </a:solidFill>
                <a:latin typeface="Pretendard SemiBold"/>
                <a:ea typeface="Pretendard SemiBold"/>
                <a:cs typeface="Pretendard SemiBold"/>
              </a:rPr>
              <a:t>횡단 평가·UQ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127248" y="5102352"/>
            <a:ext cx="2743200" cy="4206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82112" y="5102352"/>
            <a:ext cx="26334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6222E"/>
                </a:solidFill>
                <a:latin typeface="Pretendard Medium"/>
                <a:ea typeface="Pretendard Medium"/>
                <a:cs typeface="Pretendard Medium"/>
              </a:rPr>
              <a:t>공간블록 · LORO CV (누설 통제)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980176" y="5102352"/>
            <a:ext cx="2743200" cy="4206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35040" y="5102352"/>
            <a:ext cx="26334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6222E"/>
                </a:solidFill>
                <a:latin typeface="Pretendard Medium"/>
                <a:ea typeface="Pretendard Medium"/>
                <a:cs typeface="Pretendard Medium"/>
              </a:rPr>
              <a:t>Conformal CQR (coverage 89%)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833104" y="5102352"/>
            <a:ext cx="2743200" cy="4206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87968" y="5102352"/>
            <a:ext cx="26334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6222E"/>
                </a:solidFill>
                <a:latin typeface="Pretendard Medium"/>
                <a:ea typeface="Pretendard Medium"/>
                <a:cs typeface="Pretendard Medium"/>
              </a:rPr>
              <a:t>AOA 적용범위 마스크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58368" y="6473952"/>
            <a:ext cx="10874959" cy="0"/>
          </a:xfrm>
          <a:prstGeom prst="bentConnector3">
            <a:avLst/>
          </a:prstGeom>
          <a:ln w="9525">
            <a:solidFill>
              <a:srgbClr val="E7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58368" y="6528816"/>
            <a:ext cx="7612471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F98"/>
                </a:solidFill>
                <a:latin typeface="Pretendard Medium"/>
                <a:ea typeface="Pretendard Medium"/>
                <a:cs typeface="Pretendard Medium"/>
              </a:rPr>
              <a:t>극지 빅데이터 · 영구동토 ALT/3D 열구조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70287" y="6528816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F98"/>
                </a:solidFill>
                <a:latin typeface="Pretendard Medium"/>
                <a:ea typeface="Pretendard Medium"/>
                <a:cs typeface="Pretendard Medium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1087495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▍ </a:t>
            </a:r>
            <a:r>
              <a:rPr sz="1100" b="0" i="0" spc="6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03 · 모델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108749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정적 ALT에서는 GBM ≈ 딥러닝 — 병목은 공변량 정보이다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463040"/>
            <a:ext cx="10874959" cy="0"/>
          </a:xfrm>
          <a:prstGeom prst="bentConnector3">
            <a:avLst/>
          </a:prstGeom>
          <a:ln w="15240">
            <a:solidFill>
              <a:srgbClr val="D5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58368" y="1746504"/>
            <a:ext cx="1847088" cy="1234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74519"/>
            <a:ext cx="64008" cy="978408"/>
          </a:xfrm>
          <a:prstGeom prst="rect">
            <a:avLst/>
          </a:prstGeom>
          <a:solidFill>
            <a:srgbClr val="6A51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892807"/>
            <a:ext cx="15361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16.95</a:t>
            </a:r>
            <a:r>
              <a:rPr sz="1300" b="0" i="0">
                <a:solidFill>
                  <a:srgbClr val="54606B"/>
                </a:solidFill>
                <a:latin typeface="Pretendard Medium"/>
                <a:ea typeface="Pretendard Medium"/>
                <a:cs typeface="Pretendard Medium"/>
              </a:rPr>
              <a:t>  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532888"/>
            <a:ext cx="15361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F4E79"/>
                </a:solidFill>
                <a:latin typeface="Pretendard SemiBold"/>
                <a:ea typeface="Pretendard SemiBold"/>
                <a:cs typeface="Pretendard SemiBold"/>
              </a:rPr>
              <a:t>앙상블 (GBM+FT-T)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70048" y="1746504"/>
            <a:ext cx="1847088" cy="1234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70048" y="1874519"/>
            <a:ext cx="64008" cy="978408"/>
          </a:xfrm>
          <a:prstGeom prst="rect">
            <a:avLst/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9504" y="1892807"/>
            <a:ext cx="15361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17.09</a:t>
            </a:r>
            <a:r>
              <a:rPr sz="1300" b="0" i="0">
                <a:solidFill>
                  <a:srgbClr val="54606B"/>
                </a:solidFill>
                <a:latin typeface="Pretendard Medium"/>
                <a:ea typeface="Pretendard Medium"/>
                <a:cs typeface="Pretendard Medium"/>
              </a:rPr>
              <a:t>  cm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9504" y="2532888"/>
            <a:ext cx="15361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F4E79"/>
                </a:solidFill>
                <a:latin typeface="Pretendard SemiBold"/>
                <a:ea typeface="Pretendard SemiBold"/>
                <a:cs typeface="Pretendard SemiBold"/>
              </a:rPr>
              <a:t>Diffusion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81728" y="1746504"/>
            <a:ext cx="1847088" cy="12344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81728" y="1874519"/>
            <a:ext cx="64008" cy="9784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01184" y="1892807"/>
            <a:ext cx="15361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17.24</a:t>
            </a:r>
            <a:r>
              <a:rPr sz="1300" b="0" i="0">
                <a:solidFill>
                  <a:srgbClr val="54606B"/>
                </a:solidFill>
                <a:latin typeface="Pretendard Medium"/>
                <a:ea typeface="Pretendard Medium"/>
                <a:cs typeface="Pretendard Medium"/>
              </a:rPr>
              <a:t>  cm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01184" y="2532888"/>
            <a:ext cx="15361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F4E79"/>
                </a:solidFill>
                <a:latin typeface="Pretendard SemiBold"/>
                <a:ea typeface="Pretendard SemiBold"/>
                <a:cs typeface="Pretendard SemiBold"/>
              </a:rPr>
              <a:t>GBM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209544"/>
            <a:ext cx="59893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—  </a:t>
            </a:r>
            <a:r>
              <a:rPr sz="135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부트스트랩 동률</a:t>
            </a:r>
            <a:r>
              <a:rPr sz="1350" b="0" i="0">
                <a:solidFill>
                  <a:srgbClr val="54606B"/>
                </a:solidFill>
                <a:latin typeface="Pretendard"/>
                <a:ea typeface="Pretendard"/>
                <a:cs typeface="Pretendard"/>
              </a:rPr>
              <a:t>  6모델 전부 GBM과 신뢰구간이 겹친다(유의차 없음)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—  </a:t>
            </a:r>
            <a:r>
              <a:rPr sz="135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정보병목</a:t>
            </a:r>
            <a:r>
              <a:rPr sz="1350" b="0" i="0">
                <a:solidFill>
                  <a:srgbClr val="54606B"/>
                </a:solidFill>
                <a:latin typeface="Pretendard"/>
                <a:ea typeface="Pretendard"/>
                <a:cs typeface="Pretendard"/>
              </a:rPr>
              <a:t>  예측이 평균으로 수축한다 — 한계는 모델 용량이 아니라 공변량이다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—  </a:t>
            </a:r>
            <a:r>
              <a:rPr sz="135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Diffusion 채택</a:t>
            </a:r>
            <a:r>
              <a:rPr sz="1350" b="0" i="0">
                <a:solidFill>
                  <a:srgbClr val="54606B"/>
                </a:solidFill>
                <a:latin typeface="Pretendard"/>
                <a:ea typeface="Pretendard"/>
                <a:cs typeface="Pretendard"/>
              </a:rPr>
              <a:t>  정확도가 아니라 네이티브 불확실성(UQ) 때문이다</a:t>
            </a:r>
          </a:p>
        </p:txBody>
      </p:sp>
      <p:pic>
        <p:nvPicPr>
          <p:cNvPr id="18" name="Picture 17" descr="pred_vs_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4612" y="1746504"/>
            <a:ext cx="3981654" cy="35204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903720" y="5321807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4606B"/>
                </a:solidFill>
                <a:latin typeface="Pretendard Medium"/>
                <a:ea typeface="Pretendard Medium"/>
                <a:cs typeface="Pretendard Medium"/>
              </a:rPr>
              <a:t>예측 vs 관측(hexbin) · pooled OOF 17.8cm(토너먼트 6-fold 16.95–17.24cm와 정합) · 50–75cm로 수축 = 정보병목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A7480"/>
                </a:solidFill>
                <a:latin typeface="Pretendard"/>
                <a:ea typeface="Pretendard"/>
                <a:cs typeface="Pretendard"/>
              </a:rPr>
              <a:t>근거 · model_tournament_results.csv · 공간블록 CV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6473952"/>
            <a:ext cx="10874959" cy="0"/>
          </a:xfrm>
          <a:prstGeom prst="bentConnector3">
            <a:avLst/>
          </a:prstGeom>
          <a:ln w="9525">
            <a:solidFill>
              <a:srgbClr val="E7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6528816"/>
            <a:ext cx="7612471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F98"/>
                </a:solidFill>
                <a:latin typeface="Pretendard Medium"/>
                <a:ea typeface="Pretendard Medium"/>
                <a:cs typeface="Pretendard Medium"/>
              </a:rPr>
              <a:t>극지 빅데이터 · 영구동토 ALT/3D 열구조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70287" y="6528816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F98"/>
                </a:solidFill>
                <a:latin typeface="Pretendard Medium"/>
                <a:ea typeface="Pretendard Medium"/>
                <a:cs typeface="Pretendard Medium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1087495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▍ </a:t>
            </a:r>
            <a:r>
              <a:rPr sz="1100" b="0" i="0" spc="6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04 · 정직한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108749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무작위 CV는 전이를 과대평가한다 — 공간블록·LORO만 신뢰한다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463040"/>
            <a:ext cx="10874959" cy="0"/>
          </a:xfrm>
          <a:prstGeom prst="bentConnector3">
            <a:avLst/>
          </a:prstGeom>
          <a:ln w="15240">
            <a:solidFill>
              <a:srgbClr val="D5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cv_leakage_c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38" y="1792224"/>
            <a:ext cx="5409419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504688"/>
            <a:ext cx="6309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4606B"/>
                </a:solidFill>
                <a:latin typeface="Pretendard Medium"/>
                <a:ea typeface="Pretendard Medium"/>
                <a:cs typeface="Pretendard Medium"/>
              </a:rPr>
              <a:t>CV 설계별 baseline ALT RMSE — 무작위 K-fold는 낙관, 지역분리 LORO에서 붕괴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A7480"/>
                </a:solidFill>
                <a:latin typeface="Pretendard"/>
                <a:ea typeface="Pretendard"/>
                <a:cs typeface="Pretendard"/>
              </a:rPr>
              <a:t>근거 · data/processed/cv_leakage_table.csv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1929384"/>
            <a:ext cx="45720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—  </a:t>
            </a:r>
            <a:r>
              <a:rPr sz="135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문제</a:t>
            </a:r>
            <a:r>
              <a:rPr sz="1350" b="0" i="0">
                <a:solidFill>
                  <a:srgbClr val="54606B"/>
                </a:solidFill>
                <a:latin typeface="Pretendard"/>
                <a:ea typeface="Pretendard"/>
                <a:cs typeface="Pretendard"/>
              </a:rPr>
              <a:t>  무작위 K-fold는 인접점 누설로 오차를 낙관한다(IDW 28cm)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—  </a:t>
            </a:r>
            <a:r>
              <a:rPr sz="135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정직한 평가</a:t>
            </a:r>
            <a:r>
              <a:rPr sz="1350" b="0" i="0">
                <a:solidFill>
                  <a:srgbClr val="54606B"/>
                </a:solidFill>
                <a:latin typeface="Pretendard"/>
                <a:ea typeface="Pretendard"/>
                <a:cs typeface="Pretendard"/>
              </a:rPr>
              <a:t>  지역분리 LORO에서 같은 방법이 111cm로 붕괴한다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—  </a:t>
            </a:r>
            <a:r>
              <a:rPr sz="135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설계</a:t>
            </a:r>
            <a:r>
              <a:rPr sz="1350" b="0" i="0">
                <a:solidFill>
                  <a:srgbClr val="54606B"/>
                </a:solidFill>
                <a:latin typeface="Pretendard"/>
                <a:ea typeface="Pretendard"/>
                <a:cs typeface="Pretendard"/>
              </a:rPr>
              <a:t>  헤드라인은 공간블록·LORO CV만 쓰고, RMSE에 R²·skill을 병기한다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6473952"/>
            <a:ext cx="10874959" cy="0"/>
          </a:xfrm>
          <a:prstGeom prst="bentConnector3">
            <a:avLst/>
          </a:prstGeom>
          <a:ln w="9525">
            <a:solidFill>
              <a:srgbClr val="E7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528816"/>
            <a:ext cx="7612471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F98"/>
                </a:solidFill>
                <a:latin typeface="Pretendard Medium"/>
                <a:ea typeface="Pretendard Medium"/>
                <a:cs typeface="Pretendard Medium"/>
              </a:rPr>
              <a:t>극지 빅데이터 · 영구동토 ALT/3D 열구조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70287" y="6528816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F98"/>
                </a:solidFill>
                <a:latin typeface="Pretendard Medium"/>
                <a:ea typeface="Pretendard Medium"/>
                <a:cs typeface="Pretendard Medium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1087495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▍ </a:t>
            </a:r>
            <a:r>
              <a:rPr sz="1100" b="0" i="0" spc="6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04 · 정직한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108749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17cm은 물리벽이 아니라 정보병목이다 — 비가역하한 약 7cm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463040"/>
            <a:ext cx="10874959" cy="0"/>
          </a:xfrm>
          <a:prstGeom prst="bentConnector3">
            <a:avLst/>
          </a:prstGeom>
          <a:ln w="15240">
            <a:solidFill>
              <a:srgbClr val="D5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58368" y="1746504"/>
            <a:ext cx="2148840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74519"/>
            <a:ext cx="64008" cy="11155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892807"/>
            <a:ext cx="183794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86 / 14</a:t>
            </a:r>
            <a:r>
              <a:rPr sz="1300" b="0" i="0">
                <a:solidFill>
                  <a:srgbClr val="54606B"/>
                </a:solidFill>
                <a:latin typeface="Pretendard Medium"/>
                <a:ea typeface="Pretendard Medium"/>
                <a:cs typeface="Pretendard Medium"/>
              </a:rPr>
              <a:t> 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532888"/>
            <a:ext cx="18379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F4E79"/>
                </a:solidFill>
                <a:latin typeface="Pretendard SemiBold"/>
                <a:ea typeface="Pretendard SemiBold"/>
                <a:cs typeface="Pretendard SemiBold"/>
              </a:rPr>
              <a:t>분산분해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807208"/>
            <a:ext cx="1837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4606B"/>
                </a:solidFill>
                <a:latin typeface="Pretendard"/>
                <a:ea typeface="Pretendard"/>
                <a:cs typeface="Pretendard"/>
              </a:rPr>
              <a:t>위치간 / 위치내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0087" y="1746504"/>
            <a:ext cx="2148840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90087" y="1874519"/>
            <a:ext cx="64008" cy="1115568"/>
          </a:xfrm>
          <a:prstGeom prst="rect">
            <a:avLst/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9544" y="1892807"/>
            <a:ext cx="183794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7.16</a:t>
            </a:r>
            <a:r>
              <a:rPr sz="1300" b="0" i="0">
                <a:solidFill>
                  <a:srgbClr val="54606B"/>
                </a:solidFill>
                <a:latin typeface="Pretendard Medium"/>
                <a:ea typeface="Pretendard Medium"/>
                <a:cs typeface="Pretendard Medium"/>
              </a:rPr>
              <a:t>  cm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9544" y="2532888"/>
            <a:ext cx="18379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F4E79"/>
                </a:solidFill>
                <a:latin typeface="Pretendard SemiBold"/>
                <a:ea typeface="Pretendard SemiBold"/>
                <a:cs typeface="Pretendard SemiBold"/>
              </a:rPr>
              <a:t>비가역하한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9544" y="2807208"/>
            <a:ext cx="1837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4606B"/>
                </a:solidFill>
                <a:latin typeface="Pretendard"/>
                <a:ea typeface="Pretendard"/>
                <a:cs typeface="Pretendard"/>
              </a:rPr>
              <a:t>현재 잡음 하한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21807" y="1746504"/>
            <a:ext cx="2148840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21807" y="1874519"/>
            <a:ext cx="64008" cy="1115568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41264" y="1892807"/>
            <a:ext cx="183794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16.95</a:t>
            </a:r>
            <a:r>
              <a:rPr sz="1300" b="0" i="0">
                <a:solidFill>
                  <a:srgbClr val="54606B"/>
                </a:solidFill>
                <a:latin typeface="Pretendard Medium"/>
                <a:ea typeface="Pretendard Medium"/>
                <a:cs typeface="Pretendard Medium"/>
              </a:rPr>
              <a:t>  cm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41264" y="2532888"/>
            <a:ext cx="18379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F4E79"/>
                </a:solidFill>
                <a:latin typeface="Pretendard SemiBold"/>
                <a:ea typeface="Pretendard SemiBold"/>
                <a:cs typeface="Pretendard SemiBold"/>
              </a:rPr>
              <a:t>현재 최고 RMSE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41264" y="2807208"/>
            <a:ext cx="1837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4606B"/>
                </a:solidFill>
                <a:latin typeface="Pretendard"/>
                <a:ea typeface="Pretendard"/>
                <a:cs typeface="Pretendard"/>
              </a:rPr>
              <a:t>하한보다 훨씬 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392424"/>
            <a:ext cx="10874959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—  </a:t>
            </a:r>
            <a:r>
              <a:rPr sz="140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폐기된 표현</a:t>
            </a:r>
            <a:r>
              <a:rPr sz="1400" b="0" i="0">
                <a:solidFill>
                  <a:srgbClr val="54606B"/>
                </a:solidFill>
                <a:latin typeface="Pretendard"/>
                <a:ea typeface="Pretendard"/>
                <a:cs typeface="Pretendard"/>
              </a:rPr>
              <a:t>  ‘17cm = 물리하한’은 폐기한다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—  </a:t>
            </a:r>
            <a:r>
              <a:rPr sz="140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진단</a:t>
            </a:r>
            <a:r>
              <a:rPr sz="1400" b="0" i="0">
                <a:solidFill>
                  <a:srgbClr val="54606B"/>
                </a:solidFill>
                <a:latin typeface="Pretendard"/>
                <a:ea typeface="Pretendard"/>
                <a:cs typeface="Pretendard"/>
              </a:rPr>
              <a:t>  같은 공변량 셀에 서로 다른 ALT가 공존(pseudo-replication)하고 라벨 30m와 기후 9km의 척도가 불일치한다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—  </a:t>
            </a:r>
            <a:r>
              <a:rPr sz="140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함의</a:t>
            </a:r>
            <a:r>
              <a:rPr sz="1400" b="0" i="0">
                <a:solidFill>
                  <a:srgbClr val="54606B"/>
                </a:solidFill>
                <a:latin typeface="Pretendard"/>
                <a:ea typeface="Pretendard"/>
                <a:cs typeface="Pretendard"/>
              </a:rPr>
              <a:t>  비가역하한(≈7cm)이 현재 최고(16.95cm)보다 훨씬 낮다 — 정보병목이며 헤드룸이 남아 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769864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4606B"/>
                </a:solidFill>
                <a:latin typeface="Pretendard Medium"/>
                <a:ea typeface="Pretendard Medium"/>
                <a:cs typeface="Pretendard Medium"/>
              </a:rPr>
              <a:t>분산분해로 위치간 변동이 86%를 차지 — 남은 오차는 새 모달리티·척도정합으로 줄일 여지가 있다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A7480"/>
                </a:solidFill>
                <a:latin typeface="Pretendard"/>
                <a:ea typeface="Pretendard"/>
                <a:cs typeface="Pretendard"/>
              </a:rPr>
              <a:t>근거 · data/processed/apparent_floor_diagnosis.csv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8368" y="6473952"/>
            <a:ext cx="10874959" cy="0"/>
          </a:xfrm>
          <a:prstGeom prst="bentConnector3">
            <a:avLst/>
          </a:prstGeom>
          <a:ln w="9525">
            <a:solidFill>
              <a:srgbClr val="E7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6528816"/>
            <a:ext cx="7612471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F98"/>
                </a:solidFill>
                <a:latin typeface="Pretendard Medium"/>
                <a:ea typeface="Pretendard Medium"/>
                <a:cs typeface="Pretendard Medium"/>
              </a:rPr>
              <a:t>극지 빅데이터 · 영구동토 ALT/3D 열구조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70287" y="6528816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F98"/>
                </a:solidFill>
                <a:latin typeface="Pretendard Medium"/>
                <a:ea typeface="Pretendard Medium"/>
                <a:cs typeface="Pretendard Medium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1087495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▍ </a:t>
            </a:r>
            <a:r>
              <a:rPr sz="1100" b="0" i="0" spc="6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05 · 핵심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108749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알래스카 전역 ALT 예측면 — 관측 오버레이와 함께 복원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463040"/>
            <a:ext cx="10874959" cy="0"/>
          </a:xfrm>
          <a:prstGeom prst="bentConnector3">
            <a:avLst/>
          </a:prstGeom>
          <a:ln w="15240">
            <a:solidFill>
              <a:srgbClr val="D5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lt_alaska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46504"/>
            <a:ext cx="6277265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144768"/>
            <a:ext cx="6903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4606B"/>
                </a:solidFill>
                <a:latin typeface="Pretendard Medium"/>
                <a:ea typeface="Pretendard Medium"/>
                <a:cs typeface="Pretendard Medium"/>
              </a:rPr>
              <a:t>ERA5-Land 공변량 + GBM 조건 · 순차형(옅음=얕음, 짙음=깊음), 20–110cm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A7480"/>
                </a:solidFill>
                <a:latin typeface="Pretendard"/>
                <a:ea typeface="Pretendard"/>
                <a:cs typeface="Pretendard"/>
              </a:rPr>
              <a:t>근거 · outputs/maps/alt_alaska_pred.png · 공간블록 CV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47113" y="2843784"/>
            <a:ext cx="4174326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135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—  </a:t>
            </a:r>
            <a:r>
              <a:rPr sz="135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예측면</a:t>
            </a:r>
            <a:r>
              <a:rPr sz="1350" b="0" i="0">
                <a:solidFill>
                  <a:srgbClr val="54606B"/>
                </a:solidFill>
                <a:latin typeface="Pretendard"/>
                <a:ea typeface="Pretendard"/>
                <a:cs typeface="Pretendard"/>
              </a:rPr>
              <a:t>  알래스카 전역의 활성층 두께를 연속면으로 복원한다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135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—  </a:t>
            </a:r>
            <a:r>
              <a:rPr sz="135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관측 오버레이</a:t>
            </a:r>
            <a:r>
              <a:rPr sz="1350" b="0" i="0">
                <a:solidFill>
                  <a:srgbClr val="54606B"/>
                </a:solidFill>
                <a:latin typeface="Pretendard"/>
                <a:ea typeface="Pretendard"/>
                <a:cs typeface="Pretendard"/>
              </a:rPr>
              <a:t>  CALM 1,174 · ABoVE 221 지점을 함께 표시한다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135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—  </a:t>
            </a:r>
            <a:r>
              <a:rPr sz="135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색규약</a:t>
            </a:r>
            <a:r>
              <a:rPr sz="1350" b="0" i="0">
                <a:solidFill>
                  <a:srgbClr val="54606B"/>
                </a:solidFill>
                <a:latin typeface="Pretendard"/>
                <a:ea typeface="Pretendard"/>
                <a:cs typeface="Pretendard"/>
              </a:rPr>
              <a:t>  붉은 계열·rainbow를 쓰지 않는 순차형(냉색)이다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6473952"/>
            <a:ext cx="10874959" cy="0"/>
          </a:xfrm>
          <a:prstGeom prst="bentConnector3">
            <a:avLst/>
          </a:prstGeom>
          <a:ln w="9525">
            <a:solidFill>
              <a:srgbClr val="E7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528816"/>
            <a:ext cx="7612471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F98"/>
                </a:solidFill>
                <a:latin typeface="Pretendard Medium"/>
                <a:ea typeface="Pretendard Medium"/>
                <a:cs typeface="Pretendard Medium"/>
              </a:rPr>
              <a:t>극지 빅데이터 · 영구동토 ALT/3D 열구조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70287" y="6528816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F98"/>
                </a:solidFill>
                <a:latin typeface="Pretendard Medium"/>
                <a:ea typeface="Pretendard Medium"/>
                <a:cs typeface="Pretendard Medium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1087495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▍ </a:t>
            </a:r>
            <a:r>
              <a:rPr sz="1100" b="0" i="0" spc="6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05 · 핵심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108749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지배 정보원은 과제마다 다르다 — 보간=기후, 전이=InSAR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463040"/>
            <a:ext cx="10874959" cy="0"/>
          </a:xfrm>
          <a:prstGeom prst="bentConnector3">
            <a:avLst/>
          </a:prstGeom>
          <a:ln w="15240">
            <a:solidFill>
              <a:srgbClr val="D5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lt_feature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92224"/>
            <a:ext cx="6400800" cy="24655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4303484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4606B"/>
                </a:solidFill>
                <a:latin typeface="Pretendard Medium"/>
                <a:ea typeface="Pretendard Medium"/>
                <a:cs typeface="Pretendard Medium"/>
              </a:rPr>
              <a:t>다중모달 feature ablation(M0–M6) — 공간블록(보간)과 LORO(전이)에서 지배 모달리티가 다름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A7480"/>
                </a:solidFill>
                <a:latin typeface="Pretendard"/>
                <a:ea typeface="Pretendard"/>
                <a:cs typeface="Pretendard"/>
              </a:rPr>
              <a:t>근거 · data/processed/alt_feature_ablation_results.csv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746504"/>
            <a:ext cx="2057400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60920" y="1874519"/>
            <a:ext cx="64008" cy="1115568"/>
          </a:xfrm>
          <a:prstGeom prst="rect">
            <a:avLst/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0376" y="1892807"/>
            <a:ext cx="174650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16.4</a:t>
            </a:r>
            <a:r>
              <a:rPr sz="1300" b="0" i="0">
                <a:solidFill>
                  <a:srgbClr val="54606B"/>
                </a:solidFill>
                <a:latin typeface="Pretendard Medium"/>
                <a:ea typeface="Pretendard Medium"/>
                <a:cs typeface="Pretendard Medium"/>
              </a:rPr>
              <a:t>  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0376" y="2532888"/>
            <a:ext cx="17465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F4E79"/>
                </a:solidFill>
                <a:latin typeface="Pretendard SemiBold"/>
                <a:ea typeface="Pretendard SemiBold"/>
                <a:cs typeface="Pretendard SemiBold"/>
              </a:rPr>
              <a:t>+InSAR · 전이 최고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0376" y="2807208"/>
            <a:ext cx="17465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4606B"/>
                </a:solidFill>
                <a:latin typeface="Pretendard"/>
                <a:ea typeface="Pretendard"/>
                <a:cs typeface="Pretendard"/>
              </a:rPr>
              <a:t>LORO ablation M4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55480" y="1746504"/>
            <a:ext cx="2057400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555480" y="1874519"/>
            <a:ext cx="64008" cy="11155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74936" y="1892807"/>
            <a:ext cx="174650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20</a:t>
            </a:r>
            <a:r>
              <a:rPr sz="1300" b="0" i="0">
                <a:solidFill>
                  <a:srgbClr val="54606B"/>
                </a:solidFill>
                <a:latin typeface="Pretendard Medium"/>
                <a:ea typeface="Pretendard Medium"/>
                <a:cs typeface="Pretendard Medium"/>
              </a:rPr>
              <a:t> 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74936" y="2532888"/>
            <a:ext cx="17465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F4E79"/>
                </a:solidFill>
                <a:latin typeface="Pretendard SemiBold"/>
                <a:ea typeface="Pretendard SemiBold"/>
                <a:cs typeface="Pretendard SemiBold"/>
              </a:rPr>
              <a:t>ERA5 전이 개선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4936" y="2807208"/>
            <a:ext cx="17465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4606B"/>
                </a:solidFill>
                <a:latin typeface="Pretendard"/>
                <a:ea typeface="Pretendard"/>
                <a:cs typeface="Pretendard"/>
              </a:rPr>
              <a:t>LORO 108.5→87.3cm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3300984"/>
            <a:ext cx="42062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—  </a:t>
            </a:r>
            <a:r>
              <a:rPr sz="125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보간(공간블록)</a:t>
            </a:r>
            <a:r>
              <a:rPr sz="1250" b="0" i="0">
                <a:solidFill>
                  <a:srgbClr val="54606B"/>
                </a:solidFill>
                <a:latin typeface="Pretendard"/>
                <a:ea typeface="Pretendard"/>
                <a:cs typeface="Pretendard"/>
              </a:rPr>
              <a:t>  기후(ERA5)가 지배 · 지형 추가는 과적합으로 악화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—  </a:t>
            </a:r>
            <a:r>
              <a:rPr sz="125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전이(LORO)</a:t>
            </a:r>
            <a:r>
              <a:rPr sz="1250" b="0" i="0">
                <a:solidFill>
                  <a:srgbClr val="54606B"/>
                </a:solidFill>
                <a:latin typeface="Pretendard"/>
                <a:ea typeface="Pretendard"/>
                <a:cs typeface="Pretendard"/>
              </a:rPr>
              <a:t>  InSAR가 필수 · 지형 단독은 파탄(skill −65%)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—  </a:t>
            </a:r>
            <a:r>
              <a:rPr sz="125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공간 DL</a:t>
            </a:r>
            <a:r>
              <a:rPr sz="1250" b="0" i="0">
                <a:solidFill>
                  <a:srgbClr val="54606B"/>
                </a:solidFill>
                <a:latin typeface="Pretendard"/>
                <a:ea typeface="Pretendard"/>
                <a:cs typeface="Pretendard"/>
              </a:rPr>
              <a:t>  패치CNN 17.2 ≈ GBM 17.7cm — 병목은 맥락이 아닌 정보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" y="6473952"/>
            <a:ext cx="10874959" cy="0"/>
          </a:xfrm>
          <a:prstGeom prst="bentConnector3">
            <a:avLst/>
          </a:prstGeom>
          <a:ln w="9525">
            <a:solidFill>
              <a:srgbClr val="E7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6528816"/>
            <a:ext cx="7612471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F98"/>
                </a:solidFill>
                <a:latin typeface="Pretendard Medium"/>
                <a:ea typeface="Pretendard Medium"/>
                <a:cs typeface="Pretendard Medium"/>
              </a:rPr>
              <a:t>극지 빅데이터 · 영구동토 ALT/3D 열구조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70287" y="6528816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F98"/>
                </a:solidFill>
                <a:latin typeface="Pretendard Medium"/>
                <a:ea typeface="Pretendard Medium"/>
                <a:cs typeface="Pretendard Medium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1087495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▍ </a:t>
            </a:r>
            <a:r>
              <a:rPr sz="1100" b="0" i="0" spc="6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05 · 핵심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108749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예측구간을 conformal로 보정(71→89%)하고 AOA로 신뢰 밖을 표기한다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463040"/>
            <a:ext cx="10874959" cy="0"/>
          </a:xfrm>
          <a:prstGeom prst="bentConnector3">
            <a:avLst/>
          </a:prstGeom>
          <a:ln w="15240">
            <a:solidFill>
              <a:srgbClr val="D5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coverage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651" y="1792224"/>
            <a:ext cx="4056632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4727447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4606B"/>
                </a:solidFill>
                <a:latin typeface="Pretendard Medium"/>
                <a:ea typeface="Pretendard Medium"/>
                <a:cs typeface="Pretendard Medium"/>
              </a:rPr>
              <a:t>raw 분위 회귀 71.2% → CQR 보정 89.2%(목표 90%)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A7480"/>
                </a:solidFill>
                <a:latin typeface="Pretendard"/>
                <a:ea typeface="Pretendard"/>
                <a:cs typeface="Pretendard"/>
              </a:rPr>
              <a:t>근거 · data/processed/alt_conformal_aoa_results.csv</a:t>
            </a:r>
          </a:p>
        </p:txBody>
      </p:sp>
      <p:pic>
        <p:nvPicPr>
          <p:cNvPr id="7" name="Picture 6" descr="alt_aoa_m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066543"/>
            <a:ext cx="5394960" cy="20496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72200" y="4171015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4606B"/>
                </a:solidFill>
                <a:latin typeface="Pretendard Medium"/>
                <a:ea typeface="Pretendard Medium"/>
                <a:cs typeface="Pretendard Medium"/>
              </a:rPr>
              <a:t>적용범위(AOA): 환경 비유사도↑ → 오차↑·커버리지↓, 밖 영역은 경고 표기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A7480"/>
                </a:solidFill>
                <a:latin typeface="Pretendard"/>
                <a:ea typeface="Pretendard"/>
                <a:cs typeface="Pretendard"/>
              </a:rPr>
              <a:t>근거 · data/processed/alt_aoa_transfer_results.csv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855464"/>
            <a:ext cx="2606040" cy="457200"/>
          </a:xfrm>
          <a:prstGeom prst="roundRect">
            <a:avLst>
              <a:gd name="adj" fmla="val 4500"/>
            </a:avLst>
          </a:prstGeom>
          <a:solidFill>
            <a:srgbClr val="EC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27064" y="4855464"/>
            <a:ext cx="249631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1F4E79"/>
                </a:solidFill>
                <a:latin typeface="Pretendard SemiBold"/>
                <a:ea typeface="Pretendard SemiBold"/>
                <a:cs typeface="Pretendard SemiBold"/>
              </a:rPr>
              <a:t>보정: 71.2% → 89.2%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42832" y="4855464"/>
            <a:ext cx="2624328" cy="457200"/>
          </a:xfrm>
          <a:prstGeom prst="roundRect">
            <a:avLst>
              <a:gd name="adj" fmla="val 4500"/>
            </a:avLst>
          </a:prstGeom>
          <a:solidFill>
            <a:srgbClr val="EC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97696" y="4855464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B5651D"/>
                </a:solidFill>
                <a:latin typeface="Pretendard SemiBold"/>
                <a:ea typeface="Pretendard SemiBold"/>
                <a:cs typeface="Pretendard SemiBold"/>
              </a:rPr>
              <a:t>밖: RMSE 15.5→27.1cm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8368" y="6473952"/>
            <a:ext cx="10874959" cy="0"/>
          </a:xfrm>
          <a:prstGeom prst="bentConnector3">
            <a:avLst/>
          </a:prstGeom>
          <a:ln w="9525">
            <a:solidFill>
              <a:srgbClr val="E7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6528816"/>
            <a:ext cx="7612471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F98"/>
                </a:solidFill>
                <a:latin typeface="Pretendard Medium"/>
                <a:ea typeface="Pretendard Medium"/>
                <a:cs typeface="Pretendard Medium"/>
              </a:rPr>
              <a:t>극지 빅데이터 · 영구동토 ALT/3D 열구조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70287" y="6528816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F98"/>
                </a:solidFill>
                <a:latin typeface="Pretendard Medium"/>
                <a:ea typeface="Pretendard Medium"/>
                <a:cs typeface="Pretendard Medium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1087495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▍ </a:t>
            </a:r>
            <a:r>
              <a:rPr sz="1100" b="0" i="0" spc="6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05 · 핵심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108749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위도를 따라 영구동토 경계 심도가 변하는 얕은 3D 열구조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463040"/>
            <a:ext cx="10874959" cy="0"/>
          </a:xfrm>
          <a:prstGeom prst="bentConnector3">
            <a:avLst/>
          </a:prstGeom>
          <a:ln w="15240">
            <a:solidFill>
              <a:srgbClr val="D5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cross_section_lat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351" y="1792224"/>
            <a:ext cx="5053312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4773168"/>
            <a:ext cx="5669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4606B"/>
                </a:solidFill>
                <a:latin typeface="Pretendard Medium"/>
                <a:ea typeface="Pretendard Medium"/>
                <a:cs typeface="Pretendard Medium"/>
              </a:rPr>
              <a:t>위도–깊이 온도 단면 · 0°C 등온선 = 영구동토 경계(남부 온난 → 북부 심부 한랭)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A7480"/>
                </a:solidFill>
                <a:latin typeface="Pretendard"/>
                <a:ea typeface="Pretendard"/>
                <a:cs typeface="Pretendard"/>
              </a:rPr>
              <a:t>근거 · outputs/volumes_3d/cross_section_lat_depth.png</a:t>
            </a:r>
          </a:p>
        </p:txBody>
      </p:sp>
      <p:pic>
        <p:nvPicPr>
          <p:cNvPr id="7" name="Picture 6" descr="depth_sl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406" y="1792224"/>
            <a:ext cx="3306306" cy="2331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37960" y="4169663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4606B"/>
                </a:solidFill>
                <a:latin typeface="Pretendard Medium"/>
                <a:ea typeface="Pretendard Medium"/>
                <a:cs typeface="Pretendard Medium"/>
              </a:rPr>
              <a:t>깊이별(0–70m) 평균 지중온도(MAGT) — 깊이에 따른 도달 시추공 감소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A7480"/>
                </a:solidFill>
                <a:latin typeface="Pretendard"/>
                <a:ea typeface="Pretendard"/>
                <a:cs typeface="Pretendard"/>
              </a:rPr>
              <a:t>근거 · outputs/figures/05_alaska_pilot/depth_slices.png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4672584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엔진 </a:t>
            </a:r>
            <a:r>
              <a:rPr sz="1150" b="0" i="0">
                <a:solidFill>
                  <a:srgbClr val="16222E"/>
                </a:solidFill>
                <a:latin typeface="Pretendard"/>
                <a:ea typeface="Pretendard"/>
                <a:cs typeface="Pretendard"/>
              </a:rPr>
              <a:t>= GBM 조건장 + 깊이인코딩(신경장은 게이트 탈락).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구분 </a:t>
            </a:r>
            <a:r>
              <a:rPr sz="1150" b="0" i="0">
                <a:solidFill>
                  <a:srgbClr val="16222E"/>
                </a:solidFill>
                <a:latin typeface="Pretendard"/>
                <a:ea typeface="Pretendard"/>
                <a:cs typeface="Pretendard"/>
              </a:rPr>
              <a:t>ALT(계절 최대융해) ≠ MAGT(연평균장)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6473952"/>
            <a:ext cx="10874959" cy="0"/>
          </a:xfrm>
          <a:prstGeom prst="bentConnector3">
            <a:avLst/>
          </a:prstGeom>
          <a:ln w="9525">
            <a:solidFill>
              <a:srgbClr val="E7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6528816"/>
            <a:ext cx="7612471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F98"/>
                </a:solidFill>
                <a:latin typeface="Pretendard Medium"/>
                <a:ea typeface="Pretendard Medium"/>
                <a:cs typeface="Pretendard Medium"/>
              </a:rPr>
              <a:t>극지 빅데이터 · 영구동토 ALT/3D 열구조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70287" y="6528816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F98"/>
                </a:solidFill>
                <a:latin typeface="Pretendard Medium"/>
                <a:ea typeface="Pretendard Medium"/>
                <a:cs typeface="Pretendard Medium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1087495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▍ </a:t>
            </a:r>
            <a:r>
              <a:rPr sz="1100" b="0" i="0" spc="6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06 · 기존 연구 대비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108749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규모 × 전이 × 보정 UQ × 얕은 3D의 결합이 차별점이다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463040"/>
            <a:ext cx="10874959" cy="0"/>
          </a:xfrm>
          <a:prstGeom prst="bentConnector3">
            <a:avLst/>
          </a:prstGeom>
          <a:ln w="15240">
            <a:solidFill>
              <a:srgbClr val="D5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746504"/>
          <a:ext cx="10881360" cy="33832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3931920"/>
                <a:gridCol w="457200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선행연구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접근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우리 차별점</a:t>
                      </a:r>
                    </a:p>
                  </a:txBody>
                  <a:tcPr marL="73152" marR="73152" marT="18288" marB="18288" anchor="ctr">
                    <a:solidFill>
                      <a:srgbClr val="1F4E7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6222E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Ran 2022
(pan-Arctic ML)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622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1km MAGT/ALT 앙상블 지도
(RMSE 86.9cm / 1.32°C)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622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명시적 지역 전이 · 셀별 보정 UQ · 얕은 3D 추가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6222E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ESA CCI v4
(Permafrost)</a:t>
                      </a:r>
                    </a:p>
                  </a:txBody>
                  <a:tcPr marL="73152" marR="73152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622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CryoGrid forward 1km 제품
(관측기반 아님)</a:t>
                      </a:r>
                    </a:p>
                  </a:txBody>
                  <a:tcPr marL="73152" marR="73152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622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관측기반 보간·UQ·전이 · 우리 모델이 CCI 20.8cm 격파(공간블록 CV)</a:t>
                      </a:r>
                    </a:p>
                  </a:txBody>
                  <a:tcPr marL="73152" marR="73152" marT="18288" marB="18288" anchor="ctr">
                    <a:solidFill>
                      <a:srgbClr val="F4F6F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6222E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Gautam 2025
(Alaska ALT)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622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RF vs Stefan · 알래스카 내부
(RF test R² 0.24)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622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지역 전이 벤치마크 · 셀별 UQ · 4D 구조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6222E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Obu 2019
(TTOP NH)</a:t>
                      </a:r>
                    </a:p>
                  </a:txBody>
                  <a:tcPr marL="73152" marR="73152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622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평형 물리모델 MAGT·extent
(RMSE ~1.48°C)</a:t>
                      </a:r>
                    </a:p>
                  </a:txBody>
                  <a:tcPr marL="73152" marR="73152" marT="18288" marB="18288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622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ALT 대상 · ML 셀별 UQ · 전이 평가</a:t>
                      </a:r>
                    </a:p>
                  </a:txBody>
                  <a:tcPr marL="73152" marR="73152" marT="18288" marB="18288" anchor="ctr">
                    <a:solidFill>
                      <a:srgbClr val="F4F6F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6222E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Meyer 2021 · Romano 2019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622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AOA 적용범위 · 분위 conformal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6222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영구동토 ALT에 처음 결합 · 이진→연속 예측구간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5586983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4606B"/>
                </a:solidFill>
                <a:latin typeface="Pretendard Medium"/>
                <a:ea typeface="Pretendard Medium"/>
                <a:cs typeface="Pretendard Medium"/>
              </a:rPr>
              <a:t>전이·셀별 UQ는 리뷰(Koven 2025)가 명명한 open gap — 본 연구가 LORO 벤치마크와 보정 UQ로 실제 제공한다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A7480"/>
                </a:solidFill>
                <a:latin typeface="Pretendard"/>
                <a:ea typeface="Pretendard"/>
                <a:cs typeface="Pretendard"/>
              </a:rPr>
              <a:t>근거 · references/INDEX.md · docs/PLAN_FORWARD.md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6473952"/>
            <a:ext cx="10874959" cy="0"/>
          </a:xfrm>
          <a:prstGeom prst="bentConnector3">
            <a:avLst/>
          </a:prstGeom>
          <a:ln w="9525">
            <a:solidFill>
              <a:srgbClr val="E7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528816"/>
            <a:ext cx="7612471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F98"/>
                </a:solidFill>
                <a:latin typeface="Pretendard Medium"/>
                <a:ea typeface="Pretendard Medium"/>
                <a:cs typeface="Pretendard Medium"/>
              </a:rPr>
              <a:t>극지 빅데이터 · 영구동토 ALT/3D 열구조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0287" y="6528816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F98"/>
                </a:solidFill>
                <a:latin typeface="Pretendard Medium"/>
                <a:ea typeface="Pretendard Medium"/>
                <a:cs typeface="Pretendard Medium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10874959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▍ </a:t>
            </a:r>
            <a:r>
              <a:rPr sz="1100" b="0" i="0" spc="6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07 · 다음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108749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데이터 확장 · 3D 조건장 · 전이 심화 · 시각화 통합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463040"/>
            <a:ext cx="10874959" cy="0"/>
          </a:xfrm>
          <a:prstGeom prst="bentConnector3">
            <a:avLst/>
          </a:prstGeom>
          <a:ln w="15240">
            <a:solidFill>
              <a:srgbClr val="D5DB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58368" y="1792224"/>
            <a:ext cx="5254599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92224"/>
            <a:ext cx="82296" cy="1691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75104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0" i="0">
                <a:solidFill>
                  <a:srgbClr val="1F4E79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2808" y="2011680"/>
            <a:ext cx="3791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데이터 확장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2808" y="2450591"/>
            <a:ext cx="37915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4606B"/>
                </a:solidFill>
                <a:latin typeface="Pretendard"/>
                <a:ea typeface="Pretendard"/>
                <a:cs typeface="Pretendard"/>
              </a:rPr>
              <a:t>SoilGrids·Sentinel-1/2·TPDC 시추공 → ablation M7~M9. 활용률↑ (심사 1순위 지렛대)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792224"/>
            <a:ext cx="5254599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1792224"/>
            <a:ext cx="82296" cy="1691640"/>
          </a:xfrm>
          <a:prstGeom prst="rect">
            <a:avLst/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4759" y="1975104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0" i="0">
                <a:solidFill>
                  <a:srgbClr val="0B7285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3167" y="2011680"/>
            <a:ext cx="3791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얕은 3D 조건장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3167" y="2450591"/>
            <a:ext cx="37915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4606B"/>
                </a:solidFill>
                <a:latin typeface="Pretendard"/>
                <a:ea typeface="Pretendard"/>
                <a:cs typeface="Pretendard"/>
              </a:rPr>
              <a:t>GBM 조건장 + CCI prior + 물리 단조성 → PyVista 열큐브 · 0°C 등온면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803904"/>
            <a:ext cx="5254599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803904"/>
            <a:ext cx="82296" cy="1691640"/>
          </a:xfrm>
          <a:prstGeom prst="rect">
            <a:avLst/>
          </a:prstGeom>
          <a:solidFill>
            <a:srgbClr val="6A51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986784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0" i="0">
                <a:solidFill>
                  <a:srgbClr val="6A51A3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92808" y="4023360"/>
            <a:ext cx="3791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전이 심화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92808" y="4462272"/>
            <a:ext cx="37915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4606B"/>
                </a:solidFill>
                <a:latin typeface="Pretendard"/>
                <a:ea typeface="Pretendard"/>
                <a:cs typeface="Pretendard"/>
              </a:rPr>
              <a:t>kNNDM·LORO 확장 · AOA-조건 conformal로 전이 신뢰를 정량화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803904"/>
            <a:ext cx="5254599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8727" y="3803904"/>
            <a:ext cx="82296" cy="1691640"/>
          </a:xfrm>
          <a:prstGeom prst="rect">
            <a:avLst/>
          </a:prstGeom>
          <a:solidFill>
            <a:srgbClr val="546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4759" y="3986784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0" i="0">
                <a:solidFill>
                  <a:srgbClr val="54606B"/>
                </a:solidFill>
                <a:latin typeface="Pretendard SemiBold"/>
                <a:ea typeface="Pretendard SemiBold"/>
                <a:cs typeface="Pretendard SemiBol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3167" y="4023360"/>
            <a:ext cx="3791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6222E"/>
                </a:solidFill>
                <a:latin typeface="Pretendard SemiBold"/>
                <a:ea typeface="Pretendard SemiBold"/>
                <a:cs typeface="Pretendard SemiBold"/>
              </a:rPr>
              <a:t>시각화 통합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13167" y="4462272"/>
            <a:ext cx="37915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4606B"/>
                </a:solidFill>
                <a:latin typeface="Pretendard"/>
                <a:ea typeface="Pretendard"/>
                <a:cs typeface="Pretendard"/>
              </a:rPr>
              <a:t>hero figure · 인터랙티브 HTML · 애니메이션 조립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8368" y="6473952"/>
            <a:ext cx="10874959" cy="0"/>
          </a:xfrm>
          <a:prstGeom prst="bentConnector3">
            <a:avLst/>
          </a:prstGeom>
          <a:ln w="9525">
            <a:solidFill>
              <a:srgbClr val="E7E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8368" y="6528816"/>
            <a:ext cx="7612471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F98"/>
                </a:solidFill>
                <a:latin typeface="Pretendard Medium"/>
                <a:ea typeface="Pretendard Medium"/>
                <a:cs typeface="Pretendard Medium"/>
              </a:rPr>
              <a:t>극지 빅데이터 · 영구동토 ALT/3D 열구조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70287" y="6528816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8A8F98"/>
                </a:solidFill>
                <a:latin typeface="Pretendard Medium"/>
                <a:ea typeface="Pretendard Medium"/>
                <a:cs typeface="Pretendard Medium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85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spc="120">
                <a:solidFill>
                  <a:srgbClr val="2E8B9E"/>
                </a:solidFill>
                <a:latin typeface="Pretendard SemiBold"/>
                <a:ea typeface="Pretendard SemiBold"/>
                <a:cs typeface="Pretendard SemiBold"/>
              </a:rPr>
              <a:t>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24128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0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정직하게 진단한 정보병목을 데이터·전이·불확실성·얕은 3D로 확장한다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49808" y="1965960"/>
            <a:ext cx="10515600" cy="0"/>
          </a:xfrm>
          <a:prstGeom prst="bentConnector3">
            <a:avLst/>
          </a:prstGeom>
          <a:ln w="12700">
            <a:solidFill>
              <a:srgbClr val="2A4B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9808" y="2331720"/>
            <a:ext cx="106070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0" i="0">
                <a:solidFill>
                  <a:srgbClr val="2E8B9E"/>
                </a:solidFill>
                <a:latin typeface="Pretendard SemiBold"/>
                <a:ea typeface="Pretendard SemiBold"/>
                <a:cs typeface="Pretendard SemiBold"/>
              </a:rPr>
              <a:t>—  </a:t>
            </a:r>
            <a:r>
              <a:rPr sz="1450" b="0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정보병목 진단</a:t>
            </a:r>
            <a:r>
              <a:rPr sz="1450" b="0" i="0">
                <a:solidFill>
                  <a:srgbClr val="B9CAD8"/>
                </a:solidFill>
                <a:latin typeface="Pretendard"/>
                <a:ea typeface="Pretendard"/>
                <a:cs typeface="Pretendard"/>
              </a:rPr>
              <a:t>  정적 ALT는 GBM ≈ 딥러닝 — 한계는 모델이 아니라 공변량 정보이다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0" i="0">
                <a:solidFill>
                  <a:srgbClr val="2E8B9E"/>
                </a:solidFill>
                <a:latin typeface="Pretendard SemiBold"/>
                <a:ea typeface="Pretendard SemiBold"/>
                <a:cs typeface="Pretendard SemiBold"/>
              </a:rPr>
              <a:t>—  </a:t>
            </a:r>
            <a:r>
              <a:rPr sz="1450" b="0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정직한 평가</a:t>
            </a:r>
            <a:r>
              <a:rPr sz="1450" b="0" i="0">
                <a:solidFill>
                  <a:srgbClr val="B9CAD8"/>
                </a:solidFill>
                <a:latin typeface="Pretendard"/>
                <a:ea typeface="Pretendard"/>
                <a:cs typeface="Pretendard"/>
              </a:rPr>
              <a:t>  무작위 CV의 과대평가를 통제하고 셀별 예측구간을 coverage로 보정한다(71→89%)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0" i="0">
                <a:solidFill>
                  <a:srgbClr val="2E8B9E"/>
                </a:solidFill>
                <a:latin typeface="Pretendard SemiBold"/>
                <a:ea typeface="Pretendard SemiBold"/>
                <a:cs typeface="Pretendard SemiBold"/>
              </a:rPr>
              <a:t>—  </a:t>
            </a:r>
            <a:r>
              <a:rPr sz="1450" b="0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지배 정보원 분해</a:t>
            </a:r>
            <a:r>
              <a:rPr sz="1450" b="0" i="0">
                <a:solidFill>
                  <a:srgbClr val="B9CAD8"/>
                </a:solidFill>
                <a:latin typeface="Pretendard"/>
                <a:ea typeface="Pretendard"/>
                <a:cs typeface="Pretendard"/>
              </a:rPr>
              <a:t>  보간=기후·전이=InSAR로 나누고 ERA5로 전이를 20% 개선한다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50" b="0" i="0">
                <a:solidFill>
                  <a:srgbClr val="2E8B9E"/>
                </a:solidFill>
                <a:latin typeface="Pretendard SemiBold"/>
                <a:ea typeface="Pretendard SemiBold"/>
                <a:cs typeface="Pretendard SemiBold"/>
              </a:rPr>
              <a:t>—  </a:t>
            </a:r>
            <a:r>
              <a:rPr sz="1450" b="0" i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확장 방향</a:t>
            </a:r>
            <a:r>
              <a:rPr sz="1450" b="0" i="0">
                <a:solidFill>
                  <a:srgbClr val="B9CAD8"/>
                </a:solidFill>
                <a:latin typeface="Pretendard"/>
                <a:ea typeface="Pretendard"/>
                <a:cs typeface="Pretendard"/>
              </a:rPr>
              <a:t>  데이터 확장 · 관측기반 얕은 3D · 전이 심화가 다음 지렛대이다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69CAF"/>
                </a:solidFill>
                <a:latin typeface="Pretendard Medium"/>
                <a:ea typeface="Pretendard Medium"/>
                <a:cs typeface="Pretendard Medium"/>
              </a:rPr>
              <a:t>근거: data/processed/*_results.csv  ·  색규약: design/brand_tokens.json  ·  2026-07-09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