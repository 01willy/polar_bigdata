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spc="10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연구 진행 보고</a:t>
            </a:r>
            <a:r>
              <a:rPr sz="1200" b="0" i="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   2026년 7월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243584"/>
            <a:ext cx="2103120" cy="0"/>
          </a:xfrm>
          <a:prstGeom prst="bentConnector3">
            <a:avLst/>
          </a:prstGeom>
          <a:ln w="20320">
            <a:solidFill>
              <a:srgbClr val="0E5A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481328"/>
            <a:ext cx="999898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1B1E23"/>
                </a:solidFill>
                <a:latin typeface="Noto Serif CJK KR"/>
                <a:ea typeface="Noto Serif CJK KR"/>
                <a:cs typeface="Noto Serif CJK KR"/>
              </a:rPr>
              <a:t>영구동토 활성층 두께와 얕은 3D 지중 열구조의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1B1E23"/>
                </a:solidFill>
                <a:latin typeface="Noto Serif CJK KR"/>
                <a:ea typeface="Noto Serif CJK KR"/>
                <a:cs typeface="Noto Serif CJK KR"/>
              </a:rPr>
              <a:t>관측기반 GeoAI 예측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83280"/>
            <a:ext cx="58504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다중모달 빅데이터 융합, 누설을 통제한 평가, 적용범위(AOA)와 보정된 불확실성. 알래스카에서 학습한 모델을 타 영구동토 지대로 전이해 검증한다</a:t>
            </a:r>
          </a:p>
        </p:txBody>
      </p:sp>
      <p:pic>
        <p:nvPicPr>
          <p:cNvPr id="7" name="Picture 6" descr="cross_section_lat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063" y="3200400"/>
            <a:ext cx="4105816" cy="2377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20840" y="5650992"/>
            <a:ext cx="4892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9096"/>
                </a:solidFill>
                <a:latin typeface="Pretendard"/>
                <a:ea typeface="Pretendard"/>
                <a:cs typeface="Pretendard"/>
              </a:rPr>
              <a:t>그림. 위도·깊이 평균 지중온도 단면. 0°C 등온선이 영구동토 경계이다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5943600"/>
            <a:ext cx="4389119" cy="0"/>
          </a:xfrm>
          <a:prstGeom prst="bentConnector3">
            <a:avLst/>
          </a:prstGeom>
          <a:ln w="10160">
            <a:solidFill>
              <a:srgbClr val="D9D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6071616"/>
            <a:ext cx="5943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B1E23"/>
                </a:solidFill>
                <a:latin typeface="Pretendard SemiBold"/>
                <a:ea typeface="Pretendard SemiBold"/>
                <a:cs typeface="Pretendard SemiBold"/>
              </a:rPr>
              <a:t>Polar_Bigdata 연구팀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096"/>
                </a:solidFill>
                <a:latin typeface="Pretendard"/>
                <a:ea typeface="Pretendard"/>
                <a:cs typeface="Pretendard"/>
              </a:rPr>
              <a:t>데이터: CALM · ABoVE · GTN-P · ERA5-Land · Copernicus DEM · PolSAR/InSAR · ESA CCI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37215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 spc="8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요약</a:t>
            </a:r>
            <a:r>
              <a:rPr sz="1050" b="0" i="0" spc="8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>   핵심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7"/>
            <a:ext cx="1063721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B1E23"/>
                </a:solidFill>
                <a:latin typeface="Noto Serif CJK KR"/>
                <a:ea typeface="Noto Serif CJK KR"/>
                <a:cs typeface="Noto Serif CJK KR"/>
              </a:rPr>
              <a:t>정보 병목의 진단과 정직한 평가 체계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645919"/>
            <a:ext cx="10637215" cy="0"/>
          </a:xfrm>
          <a:prstGeom prst="bentConnector3">
            <a:avLst/>
          </a:prstGeom>
          <a:ln w="16510">
            <a:solidFill>
              <a:srgbClr val="BEBA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920239"/>
            <a:ext cx="106372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B1E23"/>
                </a:solidFill>
                <a:latin typeface="Pretendard"/>
                <a:ea typeface="Pretendard"/>
                <a:cs typeface="Pretendard"/>
              </a:rPr>
              <a:t>정적 ALT 매핑에서 성능의 한계는 모델 용량이 아니라 공변량 정보량에 있다. </a:t>
            </a:r>
            <a:r>
              <a:rPr sz="13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셀 단위(location-equal) 재평가로 pseudo-replication 착시를 제거하고, 적용범위(AOA)와 보정된 불확실성, 얕은 3D 열구조, 시계열 딥러닝의 사전등록 게이트를 함께 제시한다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44952"/>
            <a:ext cx="2514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 spc="2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LORO RMSE, +InSAR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64408"/>
            <a:ext cx="2514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B1E23"/>
                </a:solidFill>
                <a:latin typeface="Noto Serif CJK KR"/>
                <a:ea typeface="Noto Serif CJK KR"/>
                <a:cs typeface="Noto Serif CJK KR"/>
              </a:rPr>
              <a:t>16.1</a:t>
            </a:r>
            <a:r>
              <a:rPr sz="1250" b="0" i="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> cm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9476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C666E"/>
                </a:solidFill>
                <a:latin typeface="Pretendard"/>
                <a:ea typeface="Pretendard"/>
                <a:cs typeface="Pretendard"/>
              </a:rPr>
              <a:t>skill 12.7%, 셀 단위 평가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044952"/>
            <a:ext cx="2514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 spc="2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raw → CQR 커버리지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264408"/>
            <a:ext cx="2514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B1E23"/>
                </a:solidFill>
                <a:latin typeface="Noto Serif CJK KR"/>
                <a:ea typeface="Noto Serif CJK KR"/>
                <a:cs typeface="Noto Serif CJK KR"/>
              </a:rPr>
              <a:t>56 → 86</a:t>
            </a:r>
            <a:r>
              <a:rPr sz="1250" b="0" i="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>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79476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C666E"/>
                </a:solidFill>
                <a:latin typeface="Pretendard"/>
                <a:ea typeface="Pretendard"/>
                <a:cs typeface="Pretendard"/>
              </a:rPr>
              <a:t>목표 90%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3044952"/>
            <a:ext cx="2514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 spc="2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위치 대조군 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3264408"/>
            <a:ext cx="2514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B1E23"/>
                </a:solidFill>
                <a:latin typeface="Noto Serif CJK KR"/>
                <a:ea typeface="Noto Serif CJK KR"/>
                <a:cs typeface="Noto Serif CJK KR"/>
              </a:rPr>
              <a:t>14.7</a:t>
            </a:r>
            <a:r>
              <a:rPr sz="1250" b="0" i="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>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79476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C666E"/>
                </a:solidFill>
                <a:latin typeface="Pretendard"/>
                <a:ea typeface="Pretendard"/>
                <a:cs typeface="Pretendard"/>
              </a:rPr>
              <a:t>위경도 2피처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3044952"/>
            <a:ext cx="2377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 spc="2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정적 GBM(temporal)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3264408"/>
            <a:ext cx="23774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B1E23"/>
                </a:solidFill>
                <a:latin typeface="Noto Serif CJK KR"/>
                <a:ea typeface="Noto Serif CJK KR"/>
                <a:cs typeface="Noto Serif CJK KR"/>
              </a:rPr>
              <a:t>15.9</a:t>
            </a:r>
            <a:r>
              <a:rPr sz="1250" b="0" i="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> cm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7947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C666E"/>
                </a:solidFill>
                <a:latin typeface="Pretendard"/>
                <a:ea typeface="Pretendard"/>
                <a:cs typeface="Pretendard"/>
              </a:rPr>
              <a:t>시계열 DL은 미달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7240" y="4279392"/>
            <a:ext cx="10637215" cy="0"/>
          </a:xfrm>
          <a:prstGeom prst="bentConnector3">
            <a:avLst/>
          </a:prstGeom>
          <a:ln w="12700">
            <a:solidFill>
              <a:srgbClr val="D9D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77240" y="4434840"/>
            <a:ext cx="106372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구성   </a:t>
            </a:r>
            <a:r>
              <a:rPr sz="110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배경·동기(3,4), 선행연구·공백(5), 연구질문·기여(6), 데이터·방법(7–9), 정직한 평가(10,11), 결과: 재분석·정확도·불확실성·3D·시계열 게이트(12–16), 확충계획(17), 요약(18)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92608"/>
            <a:ext cx="744605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 spc="3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영구동토 활성층 두께·얕은 3D 지중 열구조, 관측기반 GeoAI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71255" y="292608"/>
            <a:ext cx="2743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 spc="3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요약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7240" y="512064"/>
            <a:ext cx="10637215" cy="0"/>
          </a:xfrm>
          <a:prstGeom prst="bentConnector3">
            <a:avLst/>
          </a:prstGeom>
          <a:ln w="9525">
            <a:solidFill>
              <a:srgbClr val="D9D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77240" y="6455664"/>
            <a:ext cx="10637215" cy="0"/>
          </a:xfrm>
          <a:prstGeom prst="bentConnector3">
            <a:avLst/>
          </a:prstGeom>
          <a:ln w="9525">
            <a:solidFill>
              <a:srgbClr val="D9D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6492240"/>
            <a:ext cx="638232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Polar_Bigdata · 진행 보고 (2026-07)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17175" y="6492240"/>
            <a:ext cx="10972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37215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 spc="8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1</a:t>
            </a:r>
            <a:r>
              <a:rPr sz="1050" b="0" i="0" spc="8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>   연구 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7"/>
            <a:ext cx="1063721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B1E23"/>
                </a:solidFill>
                <a:latin typeface="Noto Serif CJK KR"/>
                <a:ea typeface="Noto Serif CJK KR"/>
                <a:cs typeface="Noto Serif CJK KR"/>
              </a:rPr>
              <a:t>활성층 두께(ALT)는 영구동토 시스템의 핵심 상태변수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19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여름철 융해가 도달하는 최대 깊이. 탄소 방출과 지반 안정, 수문에 직접 관여한다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2011679"/>
            <a:ext cx="10637215" cy="0"/>
          </a:xfrm>
          <a:prstGeom prst="bentConnector3">
            <a:avLst/>
          </a:prstGeom>
          <a:ln w="16510">
            <a:solidFill>
              <a:srgbClr val="BEBA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2313432"/>
            <a:ext cx="5577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정의</a:t>
            </a:r>
            <a:r>
              <a:rPr sz="12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   활성층은 여름에 0°C 이상으로 융해되는 표층이다. ALT는 그 최대 융해 깊이(cm)이다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중요성</a:t>
            </a:r>
            <a:r>
              <a:rPr sz="12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   ALT 변화는 영구동토 탄소 노출, 인프라 침하, 수문 변화를 좌우한다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물리</a:t>
            </a:r>
            <a:r>
              <a:rPr sz="12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   융해는 지표 열에너지의 지중 전달로 결정된다. 해동도일(TDD)의 제곱근에 근사한다(Stefan)</a:t>
            </a:r>
          </a:p>
        </p:txBody>
      </p:sp>
      <p:pic>
        <p:nvPicPr>
          <p:cNvPr id="8" name="Picture 7" descr="stef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416552"/>
            <a:ext cx="1709559" cy="5669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239512"/>
            <a:ext cx="5577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A9096"/>
                </a:solidFill>
                <a:latin typeface="Pretendard"/>
                <a:ea typeface="Pretendard"/>
                <a:cs typeface="Pretendard"/>
              </a:rPr>
              <a:t>여기서 k_t 열전도도, L 잠열, ρ 밀도, θ 함수량, TDD 해동도일이다. √TDD를 공변량으로 쓰는 근거가 된다. </a:t>
            </a:r>
            <a:r>
              <a:rPr sz="950" b="0" i="0">
                <a:solidFill>
                  <a:srgbClr val="5C666E"/>
                </a:solidFill>
                <a:latin typeface="Pretendard"/>
                <a:ea typeface="Pretendard"/>
                <a:cs typeface="Pretendard"/>
              </a:rPr>
              <a:t>예: TDD가 크면 융해심 규모도 커진다</a:t>
            </a:r>
          </a:p>
        </p:txBody>
      </p:sp>
      <p:pic>
        <p:nvPicPr>
          <p:cNvPr id="10" name="Picture 9" descr="research_conce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844" y="2267712"/>
            <a:ext cx="4971111" cy="3017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9360" y="5376672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그림 1. </a:t>
            </a:r>
            <a:r>
              <a:rPr sz="950" b="0" i="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>시추공 온도, 활성층, 공변량을 입력해 ALT 2D장과 얕은 3D 열구조를 복원하는 문제 설정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8A9096"/>
                </a:solidFill>
                <a:latin typeface="Pretendard"/>
                <a:ea typeface="Pretendard"/>
                <a:cs typeface="Pretendard"/>
              </a:rPr>
              <a:t>outputs/figures/00_concept/research_concept.png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"/>
            <a:ext cx="744605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 spc="3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영구동토 활성층 두께·얕은 3D 지중 열구조, 관측기반 GeoAI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71255" y="292608"/>
            <a:ext cx="2743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 spc="3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1 · 연구 배경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" y="512064"/>
            <a:ext cx="10637215" cy="0"/>
          </a:xfrm>
          <a:prstGeom prst="bentConnector3">
            <a:avLst/>
          </a:prstGeom>
          <a:ln w="9525">
            <a:solidFill>
              <a:srgbClr val="D9D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77240" y="6455664"/>
            <a:ext cx="10637215" cy="0"/>
          </a:xfrm>
          <a:prstGeom prst="bentConnector3">
            <a:avLst/>
          </a:prstGeom>
          <a:ln w="9525">
            <a:solidFill>
              <a:srgbClr val="D9D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7240" y="6492240"/>
            <a:ext cx="638232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Polar_Bigdata · 진행 보고 (2026-07)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17175" y="6492240"/>
            <a:ext cx="10972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37215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 spc="8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1</a:t>
            </a:r>
            <a:r>
              <a:rPr sz="1050" b="0" i="0" spc="8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>   연구 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7"/>
            <a:ext cx="1063721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B1E23"/>
                </a:solidFill>
                <a:latin typeface="Noto Serif CJK KR"/>
                <a:ea typeface="Noto Serif CJK KR"/>
                <a:cs typeface="Noto Serif CJK KR"/>
              </a:rPr>
              <a:t>희소한 관측과 두 상태변수의 구분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19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지점 관측만으로는 공간장을 얻지 못한다. ALT와 연평균 지중온도(MAGT)는 서로 다른 양이다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2011679"/>
            <a:ext cx="10637215" cy="0"/>
          </a:xfrm>
          <a:prstGeom prst="bentConnector3">
            <a:avLst/>
          </a:prstGeom>
          <a:ln w="16510">
            <a:solidFill>
              <a:srgbClr val="BEBA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2404872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관측 한계  </a:t>
            </a:r>
            <a:r>
              <a:rPr sz="11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CALM 259 사이트와 GTN-P 260 사이트는 광역 영구동토를 성기게만 덮는다. 공간 예측이 필요하다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27832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개념 구분  </a:t>
            </a:r>
            <a:r>
              <a:rPr sz="11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ALT는 계절 최대 융해 깊이, MAGT는 연평균 지중온도장이다. 0°C 등온면과 ALT는 서로 다르다</a:t>
            </a:r>
          </a:p>
        </p:txBody>
      </p:sp>
      <p:pic>
        <p:nvPicPr>
          <p:cNvPr id="9" name="Picture 8" descr="altmag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42231"/>
            <a:ext cx="3993270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782312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왼쪽은 계절 최대 융해 깊이, 오른쪽은 시간평균 지중온도이다. 두 양을 혼동하면 얕은 3D 열구조 해석이 왜곡되므로 명시적으로 분리한다</a:t>
            </a:r>
          </a:p>
        </p:txBody>
      </p:sp>
      <p:pic>
        <p:nvPicPr>
          <p:cNvPr id="11" name="Picture 10" descr="global_alt_cover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313432"/>
            <a:ext cx="5257800" cy="20276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63640" y="4965192"/>
            <a:ext cx="5257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그림 2. </a:t>
            </a:r>
            <a:r>
              <a:rPr sz="950" b="0" i="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>전지구 CALM 관측망(259 사이트, 12개국). 전이 검증 범위이자 관측 희소성의 근거이다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8A9096"/>
                </a:solidFill>
                <a:latin typeface="Pretendard"/>
                <a:ea typeface="Pretendard"/>
                <a:cs typeface="Pretendard"/>
              </a:rPr>
              <a:t>outputs/figures/01_data/global_alt_coverage.png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2608"/>
            <a:ext cx="744605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 spc="3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영구동토 활성층 두께·얕은 3D 지중 열구조, 관측기반 GeoAI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71255" y="292608"/>
            <a:ext cx="2743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 spc="3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1 · 연구 배경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512064"/>
            <a:ext cx="10637215" cy="0"/>
          </a:xfrm>
          <a:prstGeom prst="bentConnector3">
            <a:avLst/>
          </a:prstGeom>
          <a:ln w="9525">
            <a:solidFill>
              <a:srgbClr val="D9D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77240" y="6455664"/>
            <a:ext cx="10637215" cy="0"/>
          </a:xfrm>
          <a:prstGeom prst="bentConnector3">
            <a:avLst/>
          </a:prstGeom>
          <a:ln w="9525">
            <a:solidFill>
              <a:srgbClr val="D9D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7240" y="6492240"/>
            <a:ext cx="638232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Polar_Bigdata · 진행 보고 (2026-07)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17175" y="6492240"/>
            <a:ext cx="10972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37215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 spc="8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2</a:t>
            </a:r>
            <a:r>
              <a:rPr sz="1050" b="0" i="0" spc="8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>   선행연구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7"/>
            <a:ext cx="1063721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B1E23"/>
                </a:solidFill>
                <a:latin typeface="Noto Serif CJK KR"/>
                <a:ea typeface="Noto Serif CJK KR"/>
                <a:cs typeface="Noto Serif CJK KR"/>
              </a:rPr>
              <a:t>선행연구가 남긴 공백: 전이, 보정 불확실성, 얕은 3D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19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규모, 전이, 보정 UQ, 얕은 3D의 결합이 본 연구의 위치이다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2011679"/>
            <a:ext cx="10637215" cy="0"/>
          </a:xfrm>
          <a:prstGeom prst="bentConnector3">
            <a:avLst/>
          </a:prstGeom>
          <a:ln w="16510">
            <a:solidFill>
              <a:srgbClr val="BEBA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2313432"/>
          <a:ext cx="11155680" cy="272491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3657600"/>
                <a:gridCol w="475488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B1E23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선행연구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1E23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접근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1E23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남은 공백 / 본 연구 기여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B1E23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Ran 2022 (pan-Arctic ML)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1E23"/>
                          </a:solidFill>
                          <a:latin typeface="Pretendard"/>
                          <a:ea typeface="Pretendard"/>
                          <a:cs typeface="Pretendard"/>
                        </a:rPr>
                        <a:t>1km MAGT/ALT 앙상블 (86.9cm/1.32°C)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1E23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지역 전이·셀별 UQ·얕은 3D 부재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B1E23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ESA CCI Permafrost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1E23"/>
                          </a:solidFill>
                          <a:latin typeface="Pretendard"/>
                          <a:ea typeface="Pretendard"/>
                          <a:cs typeface="Pretendard"/>
                        </a:rPr>
                        <a:t>CryoGrid forward 1km 제품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1E23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관측기반 보간·전이·UQ 차별, prior 한정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B1E23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Gautam 2025 (Alaska ALT)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1E23"/>
                          </a:solidFill>
                          <a:latin typeface="Pretendard"/>
                          <a:ea typeface="Pretendard"/>
                          <a:cs typeface="Pretendard"/>
                        </a:rPr>
                        <a:t>RF vs Stefan, 내부(test R² 0.24)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1E23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전이·셀별 UQ 부재(붕괴는 open problem)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B1E23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Rahaman 2025 (Alaska DL)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1E23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토양온도 sequential DL(GRU)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1E23"/>
                          </a:solidFill>
                          <a:latin typeface="Pretendard"/>
                          <a:ea typeface="Pretendard"/>
                          <a:cs typeface="Pretendard"/>
                        </a:rPr>
                        <a:t>ALT 아님, 공간지도·전이·UQ 부재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B1E23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Meyer 2021 · Romano 2019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1E23"/>
                          </a:solidFill>
                          <a:latin typeface="Pretendard"/>
                          <a:ea typeface="Pretendard"/>
                          <a:cs typeface="Pretendard"/>
                        </a:rPr>
                        <a:t>AOA 적용범위, 분위 conformal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1E23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영구동토 ALT에 처음 결합, 이진을 연속 구간으로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777240" y="2308860"/>
            <a:ext cx="10637215" cy="0"/>
          </a:xfrm>
          <a:prstGeom prst="bentConnector3">
            <a:avLst/>
          </a:prstGeom>
          <a:ln w="20320">
            <a:solidFill>
              <a:srgbClr val="1B1E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" y="2660903"/>
            <a:ext cx="10637215" cy="0"/>
          </a:xfrm>
          <a:prstGeom prst="bentConnector3">
            <a:avLst/>
          </a:prstGeom>
          <a:ln w="11430">
            <a:solidFill>
              <a:srgbClr val="BEBA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" y="5042916"/>
            <a:ext cx="10637215" cy="0"/>
          </a:xfrm>
          <a:prstGeom prst="bentConnector3">
            <a:avLst/>
          </a:prstGeom>
          <a:ln w="20320">
            <a:solidFill>
              <a:srgbClr val="1B1E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5422392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리뷰(Koven 2025)가 명명한 open gap은 전이 일반화와 셀별 UQ이다. </a:t>
            </a:r>
            <a:r>
              <a:rPr sz="110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본 연구는 이를 LORO/kNNDM 벤치마크와 보정 UQ로 실제 제공한다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971032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표 1. </a:t>
            </a:r>
            <a:r>
              <a:rPr sz="950" b="0" i="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>선행연구 대비 포지셔닝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8A9096"/>
                </a:solidFill>
                <a:latin typeface="Pretendard"/>
                <a:ea typeface="Pretendard"/>
                <a:cs typeface="Pretendard"/>
              </a:rPr>
              <a:t>references/INDEX.md · docs/PLAN_FORWARD.md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2608"/>
            <a:ext cx="744605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 spc="3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영구동토 활성층 두께·얕은 3D 지중 열구조, 관측기반 GeoAI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71255" y="292608"/>
            <a:ext cx="2743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 spc="3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2 · 선행연구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512064"/>
            <a:ext cx="10637215" cy="0"/>
          </a:xfrm>
          <a:prstGeom prst="bentConnector3">
            <a:avLst/>
          </a:prstGeom>
          <a:ln w="9525">
            <a:solidFill>
              <a:srgbClr val="D9D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77240" y="6455664"/>
            <a:ext cx="10637215" cy="0"/>
          </a:xfrm>
          <a:prstGeom prst="bentConnector3">
            <a:avLst/>
          </a:prstGeom>
          <a:ln w="9525">
            <a:solidFill>
              <a:srgbClr val="D9D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7240" y="6492240"/>
            <a:ext cx="638232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Polar_Bigdata · 진행 보고 (2026-07)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17175" y="6492240"/>
            <a:ext cx="10972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37215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 spc="8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3</a:t>
            </a:r>
            <a:r>
              <a:rPr sz="1050" b="0" i="0" spc="8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>   연구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7"/>
            <a:ext cx="1063721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B1E23"/>
                </a:solidFill>
                <a:latin typeface="Noto Serif CJK KR"/>
                <a:ea typeface="Noto Serif CJK KR"/>
                <a:cs typeface="Noto Serif CJK KR"/>
              </a:rPr>
              <a:t>연구 질문과 기여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19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데이터 구조, 공변량, 불확실성, 전이 평가를 모델 고도화보다 앞세운다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2011679"/>
            <a:ext cx="10637215" cy="0"/>
          </a:xfrm>
          <a:prstGeom prst="bentConnector3">
            <a:avLst/>
          </a:prstGeom>
          <a:ln w="16510">
            <a:solidFill>
              <a:srgbClr val="BEBA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2267712"/>
            <a:ext cx="5394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연구 질문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33472"/>
            <a:ext cx="53949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Q1</a:t>
            </a:r>
            <a:r>
              <a:rPr sz="11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   무작위 CV와 점 단위 pseudo-replication은 성능을 얼마나 왜곡하는가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Q2</a:t>
            </a:r>
            <a:r>
              <a:rPr sz="11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   기후·지형·SAR·CCI prior 중 실제 ALT를 설명하는 모달리티는 무엇인가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Q3</a:t>
            </a:r>
            <a:r>
              <a:rPr sz="11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   예측은 어느 환경에서 신뢰 가능하며(AOA), 구간은 실제 커버리지를 만족하는가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Q4</a:t>
            </a:r>
            <a:r>
              <a:rPr sz="11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   얕은 3D 열구조를 ALT와 분리하되 하나의 틀에서 연결할 수 있는가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Q5</a:t>
            </a:r>
            <a:r>
              <a:rPr sz="11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   시계열 DL은 정적 GBM과 persistence를 이기는가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89320" y="2313432"/>
            <a:ext cx="0" cy="4023360"/>
          </a:xfrm>
          <a:prstGeom prst="bentConnector3">
            <a:avLst/>
          </a:prstGeom>
          <a:ln w="12700">
            <a:solidFill>
              <a:srgbClr val="D9D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17920" y="2267712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기여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633472"/>
            <a:ext cx="5212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C1</a:t>
            </a:r>
            <a:r>
              <a:rPr sz="11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   셀·위치 동등 평가 프로토콜로 매핑 skill 과대평가를 교정한다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C2</a:t>
            </a:r>
            <a:r>
              <a:rPr sz="11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   동일 공간검증 하에서 모달리티 기여를 정직하게 분해한다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C3</a:t>
            </a:r>
            <a:r>
              <a:rPr sz="11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   결정론적 지도가 아니라 셀별 보정 예측구간과 AOA 마스크를 제공한다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C4</a:t>
            </a:r>
            <a:r>
              <a:rPr sz="11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   borehole·CCI 기반 얕은 0–20m 열구조를 ALT와 연결한다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C5</a:t>
            </a:r>
            <a:r>
              <a:rPr sz="11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   DL 고도화에 명시적 게이트를 두어 근거 없는 아키텍처 과신을 방지한다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5559552"/>
            <a:ext cx="10637215" cy="0"/>
          </a:xfrm>
          <a:prstGeom prst="bentConnector3">
            <a:avLst/>
          </a:prstGeom>
          <a:ln w="12700">
            <a:solidFill>
              <a:srgbClr val="D9D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5742431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설계 원칙  </a:t>
            </a:r>
            <a:r>
              <a:rPr sz="11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데이터 구조와 지표를 먼저 고정한다. 모델 고도화는 정적 tabular가 아니라 고차원 EO/SAR와 시간축에서 게이트를 통과할 때만 확장한다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2608"/>
            <a:ext cx="744605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 spc="3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영구동토 활성층 두께·얕은 3D 지중 열구조, 관측기반 GeoAI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71255" y="292608"/>
            <a:ext cx="2743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 spc="3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3 · 연구 설계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512064"/>
            <a:ext cx="10637215" cy="0"/>
          </a:xfrm>
          <a:prstGeom prst="bentConnector3">
            <a:avLst/>
          </a:prstGeom>
          <a:ln w="9525">
            <a:solidFill>
              <a:srgbClr val="D9D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77240" y="6455664"/>
            <a:ext cx="10637215" cy="0"/>
          </a:xfrm>
          <a:prstGeom prst="bentConnector3">
            <a:avLst/>
          </a:prstGeom>
          <a:ln w="9525">
            <a:solidFill>
              <a:srgbClr val="D9D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7240" y="6492240"/>
            <a:ext cx="638232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Polar_Bigdata · 진행 보고 (2026-07)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17175" y="6492240"/>
            <a:ext cx="10972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37215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 spc="8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4</a:t>
            </a:r>
            <a:r>
              <a:rPr sz="1050" b="0" i="0" spc="8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>   입력 데이터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7"/>
            <a:ext cx="1063721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B1E23"/>
                </a:solidFill>
                <a:latin typeface="Noto Serif CJK KR"/>
                <a:ea typeface="Noto Serif CJK KR"/>
                <a:cs typeface="Noto Serif CJK KR"/>
              </a:rPr>
              <a:t>22GB 규모의 다중모달 빅데이터와 확충 계획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19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알래스카에서 학습하고 전지구로 전이하는 구조이다. 데이터 확충이 진행 중이다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2011679"/>
            <a:ext cx="10637215" cy="0"/>
          </a:xfrm>
          <a:prstGeom prst="bentConnector3">
            <a:avLst/>
          </a:prstGeom>
          <a:ln w="16510">
            <a:solidFill>
              <a:srgbClr val="BEBA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2313432"/>
          <a:ext cx="5852160" cy="299923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83080"/>
                <a:gridCol w="1920240"/>
                <a:gridCol w="214884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E23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데이터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E23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역할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E23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규모 / 상태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</a:tr>
              <a:tr h="333756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E23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CALM ALT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E23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전이 검증 라벨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E23"/>
                          </a:solidFill>
                          <a:latin typeface="Pretendard"/>
                          <a:ea typeface="Pretendard"/>
                          <a:cs typeface="Pretendard"/>
                        </a:rPr>
                        <a:t>3,604 site-yr, 259 사이트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</a:tr>
              <a:tr h="333756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E23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ABoVE ALT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E23"/>
                          </a:solidFill>
                          <a:latin typeface="Pretendard"/>
                          <a:ea typeface="Pretendard"/>
                          <a:cs typeface="Pretendard"/>
                        </a:rPr>
                        <a:t>딥러닝 학습 라벨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E23"/>
                          </a:solidFill>
                          <a:latin typeface="Pretendard"/>
                          <a:ea typeface="Pretendard"/>
                          <a:cs typeface="Pretendard"/>
                        </a:rPr>
                        <a:t>223,937 점 → 14,348 셀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</a:tr>
              <a:tr h="333756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E23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InSAR ReSALT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E23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약지도 사전학습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E23"/>
                          </a:solidFill>
                          <a:latin typeface="Pretendard"/>
                          <a:ea typeface="Pretendard"/>
                          <a:cs typeface="Pretendard"/>
                        </a:rPr>
                        <a:t>403.6만 점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</a:tr>
              <a:tr h="333756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E23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GTN-P 지중온도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E23"/>
                          </a:solidFill>
                          <a:latin typeface="Pretendard"/>
                          <a:ea typeface="Pretendard"/>
                          <a:cs typeface="Pretendard"/>
                        </a:rPr>
                        <a:t>3D 열구조 라벨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E23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10,747 점, 260 사이트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</a:tr>
              <a:tr h="333756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E23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ERA5-Land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E23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기후 공변량(월/연)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E23"/>
                          </a:solidFill>
                          <a:latin typeface="Pretendard"/>
                          <a:ea typeface="Pretendard"/>
                          <a:cs typeface="Pretendard"/>
                        </a:rPr>
                        <a:t>9km, 1950–현재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</a:tr>
              <a:tr h="333756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E23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Copernicus DEM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E23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지형 공변량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E23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30m, 234 타일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</a:tr>
              <a:tr h="333756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E23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ESA CCI ALT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E23"/>
                          </a:solidFill>
                          <a:latin typeface="Pretendard"/>
                          <a:ea typeface="Pretendard"/>
                          <a:cs typeface="Pretendard"/>
                        </a:rPr>
                        <a:t>prior / benchmark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E23"/>
                          </a:solidFill>
                          <a:latin typeface="Pretendard"/>
                          <a:ea typeface="Pretendard"/>
                          <a:cs typeface="Pretendard"/>
                        </a:rPr>
                        <a:t>1km, 1997–2021 (확보)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</a:tr>
              <a:tr h="333756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E5A61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SoilGrids · Sentinel</a:t>
                      </a:r>
                    </a:p>
                  </a:txBody>
                  <a:tcPr marL="64008" marR="64008" marT="27432" marB="27432" anchor="ctr">
                    <a:solidFill>
                      <a:srgbClr val="F2F0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E5A61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토양·식생 확충</a:t>
                      </a:r>
                    </a:p>
                  </a:txBody>
                  <a:tcPr marL="64008" marR="64008" marT="27432" marB="27432" anchor="ctr">
                    <a:solidFill>
                      <a:srgbClr val="F2F0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E5A61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추출 진행 중</a:t>
                      </a:r>
                    </a:p>
                  </a:txBody>
                  <a:tcPr marL="64008" marR="64008" marT="27432" marB="27432" anchor="ctr">
                    <a:solidFill>
                      <a:srgbClr val="F2F0E9"/>
                    </a:solidFill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777240" y="2308860"/>
            <a:ext cx="5852160" cy="0"/>
          </a:xfrm>
          <a:prstGeom prst="bentConnector3">
            <a:avLst/>
          </a:prstGeom>
          <a:ln w="20320">
            <a:solidFill>
              <a:srgbClr val="1B1E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" y="2642615"/>
            <a:ext cx="5852160" cy="0"/>
          </a:xfrm>
          <a:prstGeom prst="bentConnector3">
            <a:avLst/>
          </a:prstGeom>
          <a:ln w="11430">
            <a:solidFill>
              <a:srgbClr val="BEBA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" y="5317236"/>
            <a:ext cx="5852160" cy="0"/>
          </a:xfrm>
          <a:prstGeom prst="bentConnector3">
            <a:avLst/>
          </a:prstGeom>
          <a:ln w="20320">
            <a:solidFill>
              <a:srgbClr val="1B1E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covariate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2822" y="2313432"/>
            <a:ext cx="2885234" cy="2331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03720" y="4690872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그림 3. </a:t>
            </a:r>
            <a:r>
              <a:rPr sz="950" b="0" i="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>격자 공변량(기후, 고도, 계절성, 강수)이 관측 사이의 빈 공간을 채운다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8A9096"/>
                </a:solidFill>
                <a:latin typeface="Pretendard"/>
                <a:ea typeface="Pretendard"/>
                <a:cs typeface="Pretendard"/>
              </a:rPr>
              <a:t>outputs/figures/01_data/covariates_overview.png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5422392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확충 계획  </a:t>
            </a:r>
            <a:r>
              <a:rPr sz="11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SoilGrids(토양 단열)와 CCI prior를 편입해 ablation M6·M8을 재실행하고 남은 헤드룸을 검증한다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2608"/>
            <a:ext cx="744605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 spc="3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영구동토 활성층 두께·얕은 3D 지중 열구조, 관측기반 GeoAI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71255" y="292608"/>
            <a:ext cx="2743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 spc="3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4 · 입력 데이터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512064"/>
            <a:ext cx="10637215" cy="0"/>
          </a:xfrm>
          <a:prstGeom prst="bentConnector3">
            <a:avLst/>
          </a:prstGeom>
          <a:ln w="9525">
            <a:solidFill>
              <a:srgbClr val="D9D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77240" y="6455664"/>
            <a:ext cx="10637215" cy="0"/>
          </a:xfrm>
          <a:prstGeom prst="bentConnector3">
            <a:avLst/>
          </a:prstGeom>
          <a:ln w="9525">
            <a:solidFill>
              <a:srgbClr val="D9D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7240" y="6492240"/>
            <a:ext cx="638232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Polar_Bigdata · 진행 보고 (2026-07)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17175" y="6492240"/>
            <a:ext cx="10972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37215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 spc="8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4</a:t>
            </a:r>
            <a:r>
              <a:rPr sz="1050" b="0" i="0" spc="8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>   입력 데이터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7"/>
            <a:ext cx="1063721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B1E23"/>
                </a:solidFill>
                <a:latin typeface="Noto Serif CJK KR"/>
                <a:ea typeface="Noto Serif CJK KR"/>
                <a:cs typeface="Noto Serif CJK KR"/>
              </a:rPr>
              <a:t>공변량 14종과 물리관측 4종, InSAR 약지도로 라벨 확장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19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지형 6종, 기후 8종, PolSAR/InSAR 4종에 더해 403.6만 점 약지도로 사전학습한다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2011679"/>
            <a:ext cx="10637215" cy="0"/>
          </a:xfrm>
          <a:prstGeom prst="bentConnector3">
            <a:avLst/>
          </a:prstGeom>
          <a:ln w="16510">
            <a:solidFill>
              <a:srgbClr val="BEBA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2313432"/>
            <a:ext cx="32409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지형 · DEM (6)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2633472"/>
            <a:ext cx="3240938" cy="0"/>
          </a:xfrm>
          <a:prstGeom prst="bentConnector3">
            <a:avLst/>
          </a:prstGeom>
          <a:ln w="12700">
            <a:solidFill>
              <a:srgbClr val="BEBA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2743200"/>
            <a:ext cx="324093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50"/>
              </a:spcAft>
            </a:pPr>
            <a:r>
              <a:rPr sz="110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10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고도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50"/>
              </a:spcAft>
            </a:pPr>
            <a:r>
              <a:rPr sz="110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10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경사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50"/>
              </a:spcAft>
            </a:pPr>
            <a:r>
              <a:rPr sz="110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10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사면향 sin·cos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50"/>
              </a:spcAft>
            </a:pPr>
            <a:r>
              <a:rPr sz="110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10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지형위치지수 TPI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50"/>
              </a:spcAft>
            </a:pPr>
            <a:r>
              <a:rPr sz="110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10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지표 거칠기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75378" y="2313432"/>
            <a:ext cx="32409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기후 · ERA5-Land (8)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475378" y="2633472"/>
            <a:ext cx="3240938" cy="0"/>
          </a:xfrm>
          <a:prstGeom prst="bentConnector3">
            <a:avLst/>
          </a:prstGeom>
          <a:ln w="12700">
            <a:solidFill>
              <a:srgbClr val="BEBA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475378" y="2743200"/>
            <a:ext cx="324093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50"/>
              </a:spcAft>
            </a:pPr>
            <a:r>
              <a:rPr sz="110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10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연평균기온 MAAT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50"/>
              </a:spcAft>
            </a:pPr>
            <a:r>
              <a:rPr sz="110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10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해동도일 TDD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50"/>
              </a:spcAft>
            </a:pPr>
            <a:r>
              <a:rPr sz="110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10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동결도일 FDD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50"/>
              </a:spcAft>
            </a:pPr>
            <a:r>
              <a:rPr sz="110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10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√TDD (Stefan)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50"/>
              </a:spcAft>
            </a:pPr>
            <a:r>
              <a:rPr sz="110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10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최난·최한월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50"/>
              </a:spcAft>
            </a:pPr>
            <a:r>
              <a:rPr sz="110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10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표층 토양온도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50"/>
              </a:spcAft>
            </a:pPr>
            <a:r>
              <a:rPr sz="110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10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적설수당량 SWE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3516" y="2313432"/>
            <a:ext cx="32409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물리관측 · PHYS (4)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73516" y="2633472"/>
            <a:ext cx="3240939" cy="0"/>
          </a:xfrm>
          <a:prstGeom prst="bentConnector3">
            <a:avLst/>
          </a:prstGeom>
          <a:ln w="12700">
            <a:solidFill>
              <a:srgbClr val="BEBA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173516" y="2743200"/>
            <a:ext cx="324093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50"/>
              </a:spcAft>
            </a:pPr>
            <a:r>
              <a:rPr sz="110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10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PolSAR ALT (P-band)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50"/>
              </a:spcAft>
            </a:pPr>
            <a:r>
              <a:rPr sz="110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10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PolSAR 셀내 SD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50"/>
              </a:spcAft>
            </a:pPr>
            <a:r>
              <a:rPr sz="110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10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InSAR ALT (ReSALT)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50"/>
              </a:spcAft>
            </a:pPr>
            <a:r>
              <a:rPr sz="110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10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InSAR 계절 침하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187952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약지도(weak label): </a:t>
            </a:r>
            <a:r>
              <a:rPr sz="100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InSAR로 추정한 대규모 근사 ALT를 사전학습에 사용한다. 실측이 성긴 영역의 공간 패턴을 미리 학습시키는 용도이며, 미세조정에서 실측으로 보정한다</a:t>
            </a:r>
          </a:p>
        </p:txBody>
      </p:sp>
      <p:pic>
        <p:nvPicPr>
          <p:cNvPr id="17" name="Picture 16" descr="weaklabel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1826" y="4599431"/>
            <a:ext cx="4368041" cy="16916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6336792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그림 1. </a:t>
            </a:r>
            <a:r>
              <a:rPr sz="950" b="0" i="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>InSAR 약지도 403.6만 점으로 실측 대비 라벨 밀도를 크게 확대하고 30m 세밀도를 확보한다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8A9096"/>
                </a:solidFill>
                <a:latin typeface="Pretendard"/>
                <a:ea typeface="Pretendard"/>
                <a:cs typeface="Pretendard"/>
              </a:rPr>
              <a:t>outputs/maps/weaklabels_overview.png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92608"/>
            <a:ext cx="744605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 spc="3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영구동토 활성층 두께·얕은 3D 지중 열구조, 관측기반 GeoAI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71255" y="292608"/>
            <a:ext cx="2743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 spc="3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4 · 입력 데이터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7240" y="512064"/>
            <a:ext cx="10637215" cy="0"/>
          </a:xfrm>
          <a:prstGeom prst="bentConnector3">
            <a:avLst/>
          </a:prstGeom>
          <a:ln w="9525">
            <a:solidFill>
              <a:srgbClr val="D9D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77240" y="6455664"/>
            <a:ext cx="10637215" cy="0"/>
          </a:xfrm>
          <a:prstGeom prst="bentConnector3">
            <a:avLst/>
          </a:prstGeom>
          <a:ln w="9525">
            <a:solidFill>
              <a:srgbClr val="D9D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77240" y="6492240"/>
            <a:ext cx="638232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Polar_Bigdata · 진행 보고 (2026-07)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17175" y="6492240"/>
            <a:ext cx="10972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37215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 spc="8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5</a:t>
            </a:r>
            <a:r>
              <a:rPr sz="1050" b="0" i="0" spc="8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>  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7"/>
            <a:ext cx="1063721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B1E23"/>
                </a:solidFill>
                <a:latin typeface="Noto Serif CJK KR"/>
                <a:ea typeface="Noto Serif CJK KR"/>
                <a:cs typeface="Noto Serif CJK KR"/>
              </a:rPr>
              <a:t>파이프라인과 누설을 통제한 평가 원칙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19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2D ALT, 얕은 3D, 횡단 UQ/AOA로 구성한다. 헤드라인 지표는 공간블록과 LORO만 사용한다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2011679"/>
            <a:ext cx="10637215" cy="0"/>
          </a:xfrm>
          <a:prstGeom prst="bentConnector3">
            <a:avLst/>
          </a:prstGeom>
          <a:ln w="16510">
            <a:solidFill>
              <a:srgbClr val="BEBA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2359152"/>
            <a:ext cx="23164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1. </a:t>
            </a:r>
            <a:r>
              <a:rPr sz="1150" b="0" i="0">
                <a:solidFill>
                  <a:srgbClr val="1B1E23"/>
                </a:solidFill>
                <a:latin typeface="Pretendard SemiBold"/>
                <a:ea typeface="Pretendard SemiBold"/>
                <a:cs typeface="Pretendard SemiBold"/>
              </a:rPr>
              <a:t>관측·라벨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2670048"/>
            <a:ext cx="2316403" cy="0"/>
          </a:xfrm>
          <a:prstGeom prst="bentConnector3">
            <a:avLst/>
          </a:prstGeom>
          <a:ln w="11430">
            <a:solidFill>
              <a:srgbClr val="BEBA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2779776"/>
            <a:ext cx="231640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· CALM·ABoVE ALT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· GTN-P 지중온도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· InSAR 약지도 403.6만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795" y="2724912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8A9096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0843" y="2359152"/>
            <a:ext cx="23164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2. </a:t>
            </a:r>
            <a:r>
              <a:rPr sz="1150" b="0" i="0">
                <a:solidFill>
                  <a:srgbClr val="1B1E23"/>
                </a:solidFill>
                <a:latin typeface="Pretendard SemiBold"/>
                <a:ea typeface="Pretendard SemiBold"/>
                <a:cs typeface="Pretendard SemiBold"/>
              </a:rPr>
              <a:t>공변량 14+4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50843" y="2670048"/>
            <a:ext cx="2316404" cy="0"/>
          </a:xfrm>
          <a:prstGeom prst="bentConnector3">
            <a:avLst/>
          </a:prstGeom>
          <a:ln w="11430">
            <a:solidFill>
              <a:srgbClr val="BEBA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50843" y="2779776"/>
            <a:ext cx="231640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· 지형 6 · DEM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· 기후 8 · ERA5-Land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· 물리관측 4 · 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0399" y="2724912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8A9096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7" y="2359152"/>
            <a:ext cx="23164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3. </a:t>
            </a:r>
            <a:r>
              <a:rPr sz="1150" b="0" i="0">
                <a:solidFill>
                  <a:srgbClr val="1B1E23"/>
                </a:solidFill>
                <a:latin typeface="Pretendard SemiBold"/>
                <a:ea typeface="Pretendard SemiBold"/>
                <a:cs typeface="Pretendard SemiBold"/>
              </a:rPr>
              <a:t>모델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324447" y="2670048"/>
            <a:ext cx="2316404" cy="0"/>
          </a:xfrm>
          <a:prstGeom prst="bentConnector3">
            <a:avLst/>
          </a:prstGeom>
          <a:ln w="11430">
            <a:solidFill>
              <a:srgbClr val="BEBA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324447" y="2779776"/>
            <a:ext cx="231640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· 2D: GBM 조건장 (GBM≈DL)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· 사전학습 후 미세조정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· 3D: GBM 조건장 + 깊이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14003" y="2724912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8A9096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051" y="2359152"/>
            <a:ext cx="23164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4. </a:t>
            </a:r>
            <a:r>
              <a:rPr sz="1150" b="0" i="0">
                <a:solidFill>
                  <a:srgbClr val="1B1E23"/>
                </a:solidFill>
                <a:latin typeface="Pretendard SemiBold"/>
                <a:ea typeface="Pretendard SemiBold"/>
                <a:cs typeface="Pretendard SemiBold"/>
              </a:rPr>
              <a:t>산출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098051" y="2670048"/>
            <a:ext cx="2316404" cy="0"/>
          </a:xfrm>
          <a:prstGeom prst="bentConnector3">
            <a:avLst/>
          </a:prstGeom>
          <a:ln w="11430">
            <a:solidFill>
              <a:srgbClr val="BEBA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098051" y="2779776"/>
            <a:ext cx="231640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· ALT 2D 지도(cm)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· 0°C 등온면, 열큐브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· 셀별 90% 예측구간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4325112"/>
            <a:ext cx="10637215" cy="0"/>
          </a:xfrm>
          <a:prstGeom prst="bentConnector3">
            <a:avLst/>
          </a:prstGeom>
          <a:ln w="12700">
            <a:solidFill>
              <a:srgbClr val="D9D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77240" y="446227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평가 원칙: 누설 통제와 표준 지표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809744"/>
            <a:ext cx="57607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공간블록 · LORO · kNNDM</a:t>
            </a:r>
            <a:r>
              <a:rPr sz="110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   무작위 CV의 공간 누설을 배제한 헤드라인 검증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표준 지표 병기</a:t>
            </a:r>
            <a:r>
              <a:rPr sz="110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   RMSE 단독 보고 금지, R²·target_SD·skill 병기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횡단 UQ/AOA</a:t>
            </a:r>
            <a:r>
              <a:rPr sz="110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   Conformal(CQR) 보정과 Meyer DI 적용범위 마스크</a:t>
            </a:r>
          </a:p>
        </p:txBody>
      </p:sp>
      <p:pic>
        <p:nvPicPr>
          <p:cNvPr id="25" name="Picture 24" descr="sk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4828031"/>
            <a:ext cx="2318302" cy="4572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629400" y="530352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A9096"/>
                </a:solidFill>
                <a:latin typeface="Pretendard"/>
                <a:ea typeface="Pretendard"/>
                <a:cs typeface="Pretendard"/>
              </a:rPr>
              <a:t>평균예측기 대비 RMSE 개선율. σ_y는 test fold 라벨 SD이다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563270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계산 예: </a:t>
            </a:r>
          </a:p>
        </p:txBody>
      </p:sp>
      <p:pic>
        <p:nvPicPr>
          <p:cNvPr id="28" name="Picture 27" descr="skill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5596128"/>
            <a:ext cx="2143686" cy="38404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629400" y="608990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C666E"/>
                </a:solidFill>
                <a:latin typeface="Pretendard"/>
                <a:ea typeface="Pretendard"/>
                <a:cs typeface="Pretendard"/>
              </a:rPr>
              <a:t>RMSE 16.1cm, σ_y 18.4cm일 때 skill은 0.13이다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292608"/>
            <a:ext cx="744605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 spc="3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영구동토 활성층 두께·얕은 3D 지중 열구조, 관측기반 GeoAI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71255" y="292608"/>
            <a:ext cx="2743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 spc="3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5 · 방법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77240" y="512064"/>
            <a:ext cx="10637215" cy="0"/>
          </a:xfrm>
          <a:prstGeom prst="bentConnector3">
            <a:avLst/>
          </a:prstGeom>
          <a:ln w="9525">
            <a:solidFill>
              <a:srgbClr val="D9D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77240" y="6455664"/>
            <a:ext cx="10637215" cy="0"/>
          </a:xfrm>
          <a:prstGeom prst="bentConnector3">
            <a:avLst/>
          </a:prstGeom>
          <a:ln w="9525">
            <a:solidFill>
              <a:srgbClr val="D9D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77240" y="6492240"/>
            <a:ext cx="638232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Polar_Bigdata · 진행 보고 (2026-07)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17175" y="6492240"/>
            <a:ext cx="10972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37215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 spc="8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6</a:t>
            </a:r>
            <a:r>
              <a:rPr sz="1050" b="0" i="0" spc="8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>   정직한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7"/>
            <a:ext cx="1063721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B1E23"/>
                </a:solidFill>
                <a:latin typeface="Noto Serif CJK KR"/>
                <a:ea typeface="Noto Serif CJK KR"/>
                <a:cs typeface="Noto Serif CJK KR"/>
              </a:rPr>
              <a:t>무작위 CV는 전이 성능을 과대평가한다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19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공간 자기상관에 의한 누설이 원인이다. 헤드라인은 공간블록과 LORO만 신뢰한다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2011679"/>
            <a:ext cx="10637215" cy="0"/>
          </a:xfrm>
          <a:prstGeom prst="bentConnector3">
            <a:avLst/>
          </a:prstGeom>
          <a:ln w="16510">
            <a:solidFill>
              <a:srgbClr val="BEBA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cv_leakage_c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827" y="2359152"/>
            <a:ext cx="5274184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971032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그림 1. </a:t>
            </a:r>
            <a:r>
              <a:rPr sz="950" b="0" i="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>CV 설계별 baseline ALT RMSE. 무작위 K-fold의 낙관과 LORO에서의 붕괴를 대비한다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8A9096"/>
                </a:solidFill>
                <a:latin typeface="Pretendard"/>
                <a:ea typeface="Pretendard"/>
                <a:cs typeface="Pretendard"/>
              </a:rPr>
              <a:t>data/processed/cv_leakage_table.csv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496312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누설  </a:t>
            </a:r>
            <a:r>
              <a:rPr sz="11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무작위 K-fold에서 IDW의 RMSE는 28cm이나, 지역분리 LORO에서 111cm로 붕괴한다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3502152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설계  </a:t>
            </a:r>
            <a:r>
              <a:rPr sz="11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헤드라인은 공간블록과 LORO만 사용하고, 셀 단위 집계로 pseudo-replication을 통제한다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4507992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예시  </a:t>
            </a:r>
            <a:r>
              <a:rPr sz="11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이웃한 점을 학습과 시험에 나눠 담으면 사실상 같은 위치를 외운다. 이것이 과대평가의 원인이다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5376672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 spc="2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무작위 CV 과대평가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5596128"/>
            <a:ext cx="21945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B1E23"/>
                </a:solidFill>
                <a:latin typeface="Noto Serif CJK KR"/>
                <a:ea typeface="Noto Serif CJK KR"/>
                <a:cs typeface="Noto Serif CJK KR"/>
              </a:rPr>
              <a:t>약 4배</a:t>
            </a:r>
            <a:r>
              <a:rPr sz="1250" b="0" i="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612648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C666E"/>
                </a:solidFill>
                <a:latin typeface="Pretendard"/>
                <a:ea typeface="Pretendard"/>
                <a:cs typeface="Pretendard"/>
              </a:rPr>
              <a:t>IDW 기준, 28 대 111cm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5376672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 spc="2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위치-동등 단위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5596128"/>
            <a:ext cx="21945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B1E23"/>
                </a:solidFill>
                <a:latin typeface="Noto Serif CJK KR"/>
                <a:ea typeface="Noto Serif CJK KR"/>
                <a:cs typeface="Noto Serif CJK KR"/>
              </a:rPr>
              <a:t>14,348</a:t>
            </a:r>
            <a:r>
              <a:rPr sz="1250" b="0" i="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> 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612648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C666E"/>
                </a:solidFill>
                <a:latin typeface="Pretendard"/>
                <a:ea typeface="Pretendard"/>
                <a:cs typeface="Pretendard"/>
              </a:rPr>
              <a:t>225k 점을 집계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92608"/>
            <a:ext cx="744605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 spc="3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영구동토 활성층 두께·얕은 3D 지중 열구조, 관측기반 GeoAI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71255" y="292608"/>
            <a:ext cx="2743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 spc="3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6 · 정직한 평가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512064"/>
            <a:ext cx="10637215" cy="0"/>
          </a:xfrm>
          <a:prstGeom prst="bentConnector3">
            <a:avLst/>
          </a:prstGeom>
          <a:ln w="9525">
            <a:solidFill>
              <a:srgbClr val="D9D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77240" y="6455664"/>
            <a:ext cx="10637215" cy="0"/>
          </a:xfrm>
          <a:prstGeom prst="bentConnector3">
            <a:avLst/>
          </a:prstGeom>
          <a:ln w="9525">
            <a:solidFill>
              <a:srgbClr val="D9D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7240" y="6492240"/>
            <a:ext cx="638232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Polar_Bigdata · 진행 보고 (2026-07)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7175" y="6492240"/>
            <a:ext cx="10972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37215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 spc="8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6</a:t>
            </a:r>
            <a:r>
              <a:rPr sz="1050" b="0" i="0" spc="8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>   정직한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7"/>
            <a:ext cx="1063721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B1E23"/>
                </a:solidFill>
                <a:latin typeface="Noto Serif CJK KR"/>
                <a:ea typeface="Noto Serif CJK KR"/>
                <a:cs typeface="Noto Serif CJK KR"/>
              </a:rPr>
              <a:t>17cm은 물리 한계가 아니라 정보 병목이다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19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분산분해에서 위치간 성분이 지배하며, 비가역 하한은 훨씬 낮다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2011679"/>
            <a:ext cx="10637215" cy="0"/>
          </a:xfrm>
          <a:prstGeom prst="bentConnector3">
            <a:avLst/>
          </a:prstGeom>
          <a:ln w="16510">
            <a:solidFill>
              <a:srgbClr val="BEBA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2359152"/>
            <a:ext cx="2468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 spc="2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분산: 위치간 / 위치내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78608"/>
            <a:ext cx="2468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B1E23"/>
                </a:solidFill>
                <a:latin typeface="Noto Serif CJK KR"/>
                <a:ea typeface="Noto Serif CJK KR"/>
                <a:cs typeface="Noto Serif CJK KR"/>
              </a:rPr>
              <a:t>86 / 14</a:t>
            </a:r>
            <a:r>
              <a:rPr sz="1250" b="0" i="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>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0896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C666E"/>
                </a:solidFill>
                <a:latin typeface="Pretendard"/>
                <a:ea typeface="Pretendard"/>
                <a:cs typeface="Pretendard"/>
              </a:rPr>
              <a:t>pseudo-replication 진단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359152"/>
            <a:ext cx="2468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 spc="2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비가역 하한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578608"/>
            <a:ext cx="2468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B1E23"/>
                </a:solidFill>
                <a:latin typeface="Noto Serif CJK KR"/>
                <a:ea typeface="Noto Serif CJK KR"/>
                <a:cs typeface="Noto Serif CJK KR"/>
              </a:rPr>
              <a:t>7.2</a:t>
            </a:r>
            <a:r>
              <a:rPr sz="1250" b="0" i="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> cm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10896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C666E"/>
                </a:solidFill>
                <a:latin typeface="Pretendard"/>
                <a:ea typeface="Pretendard"/>
                <a:cs typeface="Pretendard"/>
              </a:rPr>
              <a:t>현재 최고 17.0cm보다 낮음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59" y="2359152"/>
            <a:ext cx="2468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 spc="2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셀 단위 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59" y="2578608"/>
            <a:ext cx="2468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B1E23"/>
                </a:solidFill>
                <a:latin typeface="Noto Serif CJK KR"/>
                <a:ea typeface="Noto Serif CJK KR"/>
                <a:cs typeface="Noto Serif CJK KR"/>
              </a:rPr>
              <a:t>0.13</a:t>
            </a:r>
            <a:r>
              <a:rPr sz="1250" b="0" i="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59" y="310896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C666E"/>
                </a:solidFill>
                <a:latin typeface="Pretendard"/>
                <a:ea typeface="Pretendard"/>
                <a:cs typeface="Pretendard"/>
              </a:rPr>
              <a:t>점 단위 평가보다 정직</a:t>
            </a:r>
          </a:p>
        </p:txBody>
      </p:sp>
      <p:pic>
        <p:nvPicPr>
          <p:cNvPr id="16" name="Picture 15" descr="v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2496312"/>
            <a:ext cx="2546927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3593591"/>
            <a:ext cx="107899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300"/>
              </a:spcAft>
            </a:pPr>
            <a:r>
              <a:rPr sz="12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폐기</a:t>
            </a:r>
            <a:r>
              <a:rPr sz="12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   ‘17cm은 물리 하한’이라는 표현은 폐기한다. 이는 현재 공변량에서 나타나는 정보 병목이다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300"/>
              </a:spcAft>
            </a:pPr>
            <a:r>
              <a:rPr sz="12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진단</a:t>
            </a:r>
            <a:r>
              <a:rPr sz="12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   같은 공변량 셀에 서로 다른 ALT가 공존한다(pseudo-replication). 라벨 30m와 기후 9km의 척도도 불일치한다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300"/>
              </a:spcAft>
            </a:pPr>
            <a:r>
              <a:rPr sz="12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예시</a:t>
            </a:r>
            <a:r>
              <a:rPr sz="12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   동일 공변량 셀 안에서 관측 ALT가 34cm와 96cm로 공존하기도 한다. 같은 입력에 다른 정답이 대응한다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300"/>
              </a:spcAft>
            </a:pPr>
            <a:r>
              <a:rPr sz="12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함의</a:t>
            </a:r>
            <a:r>
              <a:rPr sz="12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   비가역 하한(약 7cm)이 현재 최고(17.0cm)보다 훨씬 낮다. 새 모달리티와 척도 정합에 헤드룸이 남아 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153912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표 1. </a:t>
            </a:r>
            <a:r>
              <a:rPr sz="950" b="0" i="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>apparent-floor 진단(분산분해)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8A9096"/>
                </a:solidFill>
                <a:latin typeface="Pretendard"/>
                <a:ea typeface="Pretendard"/>
                <a:cs typeface="Pretendard"/>
              </a:rPr>
              <a:t>data/processed/apparent_floor_diagnosis.csv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92608"/>
            <a:ext cx="744605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 spc="3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영구동토 활성층 두께·얕은 3D 지중 열구조, 관측기반 GeoAI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71255" y="292608"/>
            <a:ext cx="2743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 spc="3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6 · 정직한 평가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7240" y="512064"/>
            <a:ext cx="10637215" cy="0"/>
          </a:xfrm>
          <a:prstGeom prst="bentConnector3">
            <a:avLst/>
          </a:prstGeom>
          <a:ln w="9525">
            <a:solidFill>
              <a:srgbClr val="D9D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77240" y="6455664"/>
            <a:ext cx="10637215" cy="0"/>
          </a:xfrm>
          <a:prstGeom prst="bentConnector3">
            <a:avLst/>
          </a:prstGeom>
          <a:ln w="9525">
            <a:solidFill>
              <a:srgbClr val="D9D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77240" y="6492240"/>
            <a:ext cx="638232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Polar_Bigdata · 진행 보고 (2026-07)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17175" y="6492240"/>
            <a:ext cx="10972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37215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 spc="8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7</a:t>
            </a:r>
            <a:r>
              <a:rPr sz="1050" b="0" i="0" spc="8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>  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7"/>
            <a:ext cx="1063721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B1E23"/>
                </a:solidFill>
                <a:latin typeface="Noto Serif CJK KR"/>
                <a:ea typeface="Noto Serif CJK KR"/>
                <a:cs typeface="Noto Serif CJK KR"/>
              </a:rPr>
              <a:t>셀 단위 재분석: 지배 정보원과 위치 대조군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19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정직한 셀 평가에서 skill이 낮아지고, 위경도만으로도 물리 공변량 이상을 설명한다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2011679"/>
            <a:ext cx="10637215" cy="0"/>
          </a:xfrm>
          <a:prstGeom prst="bentConnector3">
            <a:avLst/>
          </a:prstGeom>
          <a:ln w="16510">
            <a:solidFill>
              <a:srgbClr val="BEBA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cell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496312"/>
            <a:ext cx="6720840" cy="25663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788152"/>
            <a:ext cx="6720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그림 1. </a:t>
            </a:r>
            <a:r>
              <a:rPr sz="950" b="0" i="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>셀 단위 다중모달 ablation(GBM 고정). 공간블록과 LORO, 막대 위는 RMSE, 막대 안은 skill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8A9096"/>
                </a:solidFill>
                <a:latin typeface="Pretendard"/>
                <a:ea typeface="Pretendard"/>
                <a:cs typeface="Pretendard"/>
              </a:rPr>
              <a:t>data/processed/alt_ablation_cell_results.csv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2633472"/>
            <a:ext cx="3794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보간(공간블록)  </a:t>
            </a:r>
            <a:r>
              <a:rPr sz="11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기후(ERA5)가 지배한다. 지형을 더하면 공간 과적합으로 악화된다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3593591"/>
            <a:ext cx="3794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전이(LORO)  </a:t>
            </a:r>
            <a:r>
              <a:rPr sz="11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+InSAR가 물리 조합 중 최고(16.1cm)이다. 지형 단독은 파탄한다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4553712"/>
            <a:ext cx="3794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9A6D1E"/>
                </a:solidFill>
                <a:latin typeface="Pretendard SemiBold"/>
                <a:ea typeface="Pretendard SemiBold"/>
                <a:cs typeface="Pretendard SemiBold"/>
              </a:rPr>
              <a:t>위치 대조군  </a:t>
            </a:r>
            <a:r>
              <a:rPr sz="11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위경도만으로 skill 14.7%에 이른다. 정보 병목의 직접 증거이다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5513831"/>
            <a:ext cx="3794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CCI prior  </a:t>
            </a:r>
            <a:r>
              <a:rPr sz="11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M8은 개선이 없다. 기후와 정보가 중복되기 때문이다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2608"/>
            <a:ext cx="744605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 spc="3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영구동토 활성층 두께·얕은 3D 지중 열구조, 관측기반 GeoAI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71255" y="292608"/>
            <a:ext cx="2743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 spc="3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7 · 결과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512064"/>
            <a:ext cx="10637215" cy="0"/>
          </a:xfrm>
          <a:prstGeom prst="bentConnector3">
            <a:avLst/>
          </a:prstGeom>
          <a:ln w="9525">
            <a:solidFill>
              <a:srgbClr val="D9D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77240" y="6455664"/>
            <a:ext cx="10637215" cy="0"/>
          </a:xfrm>
          <a:prstGeom prst="bentConnector3">
            <a:avLst/>
          </a:prstGeom>
          <a:ln w="9525">
            <a:solidFill>
              <a:srgbClr val="D9D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7240" y="6492240"/>
            <a:ext cx="638232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Polar_Bigdata · 진행 보고 (2026-07)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17175" y="6492240"/>
            <a:ext cx="10972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37215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 spc="8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7</a:t>
            </a:r>
            <a:r>
              <a:rPr sz="1050" b="0" i="0" spc="8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>  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7"/>
            <a:ext cx="1063721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B1E23"/>
                </a:solidFill>
                <a:latin typeface="Noto Serif CJK KR"/>
                <a:ea typeface="Noto Serif CJK KR"/>
                <a:cs typeface="Noto Serif CJK KR"/>
              </a:rPr>
              <a:t>예측 정확도와 정보 병목의 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19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예측이 중앙으로 수축하는 평균회귀가 나타난다. 모델 용량이 아니라 정보의 한계이다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2011679"/>
            <a:ext cx="10637215" cy="0"/>
          </a:xfrm>
          <a:prstGeom prst="bentConnector3">
            <a:avLst/>
          </a:prstGeom>
          <a:ln w="16510">
            <a:solidFill>
              <a:srgbClr val="BEBA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pred_obs_c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656" y="2313432"/>
            <a:ext cx="3855407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606247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그림 2. </a:t>
            </a:r>
            <a:r>
              <a:rPr sz="950" b="0" i="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>예측 대 관측(셀 OOF). 중앙으로의 수축이 정보 병목을 나타낸다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8A9096"/>
                </a:solidFill>
                <a:latin typeface="Pretendard"/>
                <a:ea typeface="Pretendard"/>
                <a:cs typeface="Pretendard"/>
              </a:rPr>
              <a:t>data/processed/alt_cell_best_oof.csv</a:t>
            </a:r>
          </a:p>
        </p:txBody>
      </p:sp>
      <p:pic>
        <p:nvPicPr>
          <p:cNvPr id="9" name="Picture 8" descr="alt_alaska_p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313432"/>
            <a:ext cx="4023360" cy="278386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0" y="6062472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그림 3. </a:t>
            </a:r>
            <a:r>
              <a:rPr sz="950" b="0" i="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>알래스카 ALT 예측면(관측 오버레이). 순차형 냉색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8A9096"/>
                </a:solidFill>
                <a:latin typeface="Pretendard"/>
                <a:ea typeface="Pretendard"/>
                <a:cs typeface="Pretendard"/>
              </a:rPr>
              <a:t>outputs/maps/alt_alaska_pred.png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1160" y="2542032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수축  </a:t>
            </a:r>
            <a:r>
              <a:rPr sz="11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높은 ALT는 과소, 낮은 ALT는 과대 예측된다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3776472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R² 0.11  </a:t>
            </a:r>
            <a:r>
              <a:rPr sz="11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셀 평가에서의 정직한 설명력이다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60" y="5010912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색 규약  </a:t>
            </a:r>
            <a:r>
              <a:rPr sz="11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붉은 계열과 rainbow를 배제한다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2608"/>
            <a:ext cx="744605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 spc="3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영구동토 활성층 두께·얕은 3D 지중 열구조, 관측기반 GeoAI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71255" y="292608"/>
            <a:ext cx="2743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 spc="3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7 · 결과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512064"/>
            <a:ext cx="10637215" cy="0"/>
          </a:xfrm>
          <a:prstGeom prst="bentConnector3">
            <a:avLst/>
          </a:prstGeom>
          <a:ln w="9525">
            <a:solidFill>
              <a:srgbClr val="D9D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77240" y="6455664"/>
            <a:ext cx="10637215" cy="0"/>
          </a:xfrm>
          <a:prstGeom prst="bentConnector3">
            <a:avLst/>
          </a:prstGeom>
          <a:ln w="9525">
            <a:solidFill>
              <a:srgbClr val="D9D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7240" y="6492240"/>
            <a:ext cx="638232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Polar_Bigdata · 진행 보고 (2026-07)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17175" y="6492240"/>
            <a:ext cx="10972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37215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 spc="8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7</a:t>
            </a:r>
            <a:r>
              <a:rPr sz="1050" b="0" i="0" spc="8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>  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7"/>
            <a:ext cx="1063721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B1E23"/>
                </a:solidFill>
                <a:latin typeface="Noto Serif CJK KR"/>
                <a:ea typeface="Noto Serif CJK KR"/>
                <a:cs typeface="Noto Serif CJK KR"/>
              </a:rPr>
              <a:t>보정된 불확실성과 적용범위(AOA)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19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raw 90% 구간은 실제로 56%만 포착한다. CQR로 86%까지 보정하고, 외삽 영역은 경고한다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2011679"/>
            <a:ext cx="10637215" cy="0"/>
          </a:xfrm>
          <a:prstGeom prst="bentConnector3">
            <a:avLst/>
          </a:prstGeom>
          <a:ln w="16510">
            <a:solidFill>
              <a:srgbClr val="BEBA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conformal_ao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359152"/>
            <a:ext cx="6629400" cy="2539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559552"/>
            <a:ext cx="6629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그림 1. </a:t>
            </a:r>
            <a:r>
              <a:rPr sz="950" b="0" i="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>(a) conformal 커버리지 보정. (b) DI 구간별 RMSE와 커버리지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8A9096"/>
                </a:solidFill>
                <a:latin typeface="Pretendard"/>
                <a:ea typeface="Pretendard"/>
                <a:cs typeface="Pretendard"/>
              </a:rPr>
              <a:t>data/processed/alt_conformal_cell_results.csv · alt_aoa_cell_transfer.csv</a:t>
            </a:r>
          </a:p>
        </p:txBody>
      </p:sp>
      <p:pic>
        <p:nvPicPr>
          <p:cNvPr id="9" name="Picture 8" descr="c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496312"/>
            <a:ext cx="4023360" cy="33751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89520" y="3136391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A9096"/>
                </a:solidFill>
                <a:latin typeface="Pretendard"/>
                <a:ea typeface="Pretendard"/>
                <a:cs typeface="Pretendard"/>
              </a:rPr>
              <a:t>분위 잔차로 구간을 보정한다. 분포 가정 없이 유효 커버리지를 확보한다</a:t>
            </a:r>
          </a:p>
        </p:txBody>
      </p:sp>
      <p:pic>
        <p:nvPicPr>
          <p:cNvPr id="11" name="Picture 10" descr="d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3822191"/>
            <a:ext cx="2140476" cy="502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89520" y="4325112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A9096"/>
                </a:solidFill>
                <a:latin typeface="Pretendard"/>
                <a:ea typeface="Pretendard"/>
                <a:cs typeface="Pretendard"/>
              </a:rPr>
              <a:t>학습 환경공간과의 가중 거리이다. 임계 초과 영역은 외삽으로 판정한다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4965192"/>
            <a:ext cx="3931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정직한 표기  </a:t>
            </a:r>
            <a:r>
              <a:rPr sz="11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최고 DI 구간의 RMSE는 30cm, 커버리지는 50%이다(D3에서 88%로 비단조)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2608"/>
            <a:ext cx="744605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 spc="3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영구동토 활성층 두께·얕은 3D 지중 열구조, 관측기반 GeoAI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71255" y="292608"/>
            <a:ext cx="2743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 spc="3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7 · 결과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512064"/>
            <a:ext cx="10637215" cy="0"/>
          </a:xfrm>
          <a:prstGeom prst="bentConnector3">
            <a:avLst/>
          </a:prstGeom>
          <a:ln w="9525">
            <a:solidFill>
              <a:srgbClr val="D9D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77240" y="6455664"/>
            <a:ext cx="10637215" cy="0"/>
          </a:xfrm>
          <a:prstGeom prst="bentConnector3">
            <a:avLst/>
          </a:prstGeom>
          <a:ln w="9525">
            <a:solidFill>
              <a:srgbClr val="D9D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7240" y="6492240"/>
            <a:ext cx="638232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Polar_Bigdata · 진행 보고 (2026-07)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17175" y="6492240"/>
            <a:ext cx="10972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37215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 spc="8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7</a:t>
            </a:r>
            <a:r>
              <a:rPr sz="1050" b="0" i="0" spc="8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>  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7"/>
            <a:ext cx="1063721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B1E23"/>
                </a:solidFill>
                <a:latin typeface="Noto Serif CJK KR"/>
                <a:ea typeface="Noto Serif CJK KR"/>
                <a:cs typeface="Noto Serif CJK KR"/>
              </a:rPr>
              <a:t>얕은 3D 지중 열구조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19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위도를 따라 영구동토 경계 심도가 변한다. 예측 엔진은 GBM 조건장이다(신경장은 게이트 탈락)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2011679"/>
            <a:ext cx="10637215" cy="0"/>
          </a:xfrm>
          <a:prstGeom prst="bentConnector3">
            <a:avLst/>
          </a:prstGeom>
          <a:ln w="16510">
            <a:solidFill>
              <a:srgbClr val="BEBA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cross_section_lat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359152"/>
            <a:ext cx="5394960" cy="31239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632704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그림 1. </a:t>
            </a:r>
            <a:r>
              <a:rPr sz="950" b="0" i="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>위도·깊이 MAGT 단면. 0°C 등온선이 영구동토 경계이다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8A9096"/>
                </a:solidFill>
                <a:latin typeface="Pretendard"/>
                <a:ea typeface="Pretendard"/>
                <a:cs typeface="Pretendard"/>
              </a:rPr>
              <a:t>outputs/volumes_3d/cross_section_lat_depth.png</a:t>
            </a:r>
          </a:p>
        </p:txBody>
      </p:sp>
      <p:pic>
        <p:nvPicPr>
          <p:cNvPr id="9" name="Picture 8" descr="magt_alaska_2m_20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359152"/>
            <a:ext cx="2697480" cy="250023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5632704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그림 2. </a:t>
            </a:r>
            <a:r>
              <a:rPr sz="950" b="0" i="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>MAGT 2m·20m, 0°C 등고선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8A9096"/>
                </a:solidFill>
                <a:latin typeface="Pretendard"/>
                <a:ea typeface="Pretendard"/>
                <a:cs typeface="Pretendard"/>
              </a:rPr>
              <a:t>magt_alaska_2m_20m.png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542032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경계 심도  </a:t>
            </a:r>
            <a:r>
              <a:rPr sz="11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0°C 등온면이 남부에서 북부로 갈수록 깊어진다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3776472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구분  </a:t>
            </a:r>
            <a:r>
              <a:rPr sz="11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ALT(계절 최대융해)와 MAGT(연평균장)는 다르다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5010912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엔진  </a:t>
            </a:r>
            <a:r>
              <a:rPr sz="11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GBM 조건장에 깊이 인코딩을 결합한다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2608"/>
            <a:ext cx="744605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 spc="3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영구동토 활성층 두께·얕은 3D 지중 열구조, 관측기반 GeoAI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71255" y="292608"/>
            <a:ext cx="2743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 spc="3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7 · 결과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512064"/>
            <a:ext cx="10637215" cy="0"/>
          </a:xfrm>
          <a:prstGeom prst="bentConnector3">
            <a:avLst/>
          </a:prstGeom>
          <a:ln w="9525">
            <a:solidFill>
              <a:srgbClr val="D9D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77240" y="6455664"/>
            <a:ext cx="10637215" cy="0"/>
          </a:xfrm>
          <a:prstGeom prst="bentConnector3">
            <a:avLst/>
          </a:prstGeom>
          <a:ln w="9525">
            <a:solidFill>
              <a:srgbClr val="D9D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7240" y="6492240"/>
            <a:ext cx="638232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Polar_Bigdata · 진행 보고 (2026-07)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17175" y="6492240"/>
            <a:ext cx="10972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37215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 spc="8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7</a:t>
            </a:r>
            <a:r>
              <a:rPr sz="1050" b="0" i="0" spc="8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>  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7"/>
            <a:ext cx="1063721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B1E23"/>
                </a:solidFill>
                <a:latin typeface="Noto Serif CJK KR"/>
                <a:ea typeface="Noto Serif CJK KR"/>
                <a:cs typeface="Noto Serif CJK KR"/>
              </a:rPr>
              <a:t>시계열 딥러닝 게이트: temporal holdout에서 미통과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19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사전등록 게이트이다. GRU는 site-disjoint에서 baseline을 소폭 앞서나 temporal holdout에서 GBM을 넘지 못한다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2011679"/>
            <a:ext cx="10637215" cy="0"/>
          </a:xfrm>
          <a:prstGeom prst="bentConnector3">
            <a:avLst/>
          </a:prstGeom>
          <a:ln w="16510">
            <a:solidFill>
              <a:srgbClr val="BEBA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tlite_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359152"/>
            <a:ext cx="6400800" cy="33928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925312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그림 1. </a:t>
            </a:r>
            <a:r>
              <a:rPr sz="950" b="0" i="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>CALM site-year(251 사이트) ALT 예측. site-disjoint와 temporal holdout 검증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8A9096"/>
                </a:solidFill>
                <a:latin typeface="Pretendard"/>
                <a:ea typeface="Pretendard"/>
                <a:cs typeface="Pretendard"/>
              </a:rPr>
              <a:t>data/processed/tlite_sequence_gate_results.csv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2496312"/>
            <a:ext cx="4114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게이트 규칙  </a:t>
            </a:r>
            <a:r>
              <a:rPr sz="11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두 검증을 모두 통과해야 채택한다. 아키텍처 과신을 방지한다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406640" y="3410712"/>
          <a:ext cx="4114800" cy="14630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37360"/>
                <a:gridCol w="1188720"/>
                <a:gridCol w="118872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E23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모델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E23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site-disj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E23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temporal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E5A61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GBM-annual</a:t>
                      </a:r>
                    </a:p>
                  </a:txBody>
                  <a:tcPr marL="64008" marR="64008" marT="27432" marB="27432" anchor="ctr">
                    <a:solidFill>
                      <a:srgbClr val="F2F0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E5A61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17.3</a:t>
                      </a:r>
                    </a:p>
                  </a:txBody>
                  <a:tcPr marL="64008" marR="64008" marT="27432" marB="27432" anchor="ctr">
                    <a:solidFill>
                      <a:srgbClr val="F2F0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E5A61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15.9</a:t>
                      </a:r>
                    </a:p>
                  </a:txBody>
                  <a:tcPr marL="64008" marR="64008" marT="27432" marB="27432" anchor="ctr">
                    <a:solidFill>
                      <a:srgbClr val="F2F0E9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E23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persistence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E23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17.0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E23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17.0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E23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GRU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E23"/>
                          </a:solidFill>
                          <a:latin typeface="Pretendard"/>
                          <a:ea typeface="Pretendard"/>
                          <a:cs typeface="Pretendard"/>
                        </a:rPr>
                        <a:t>16.8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E23"/>
                          </a:solidFill>
                          <a:latin typeface="Pretendard"/>
                          <a:ea typeface="Pretendard"/>
                          <a:cs typeface="Pretendard"/>
                        </a:rPr>
                        <a:t>19.2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E23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TCN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E23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18.1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E23"/>
                          </a:solidFill>
                          <a:latin typeface="Pretendard"/>
                          <a:ea typeface="Pretendard"/>
                          <a:cs typeface="Pretendard"/>
                        </a:rPr>
                        <a:t>23.8</a:t>
                      </a:r>
                    </a:p>
                  </a:txBody>
                  <a:tcPr marL="64008" marR="64008" marT="27432" marB="27432" anchor="ctr">
                    <a:solidFill>
                      <a:srgbClr val="FBFAF6"/>
                    </a:solidFill>
                  </a:tcPr>
                </a:tc>
              </a:tr>
            </a:tbl>
          </a:graphicData>
        </a:graphic>
      </p:graphicFrame>
      <p:cxnSp>
        <p:nvCxnSpPr>
          <p:cNvPr id="11" name="Connector 10"/>
          <p:cNvCxnSpPr/>
          <p:nvPr/>
        </p:nvCxnSpPr>
        <p:spPr>
          <a:xfrm>
            <a:off x="7406640" y="3406140"/>
            <a:ext cx="4114800" cy="0"/>
          </a:xfrm>
          <a:prstGeom prst="bentConnector3">
            <a:avLst/>
          </a:prstGeom>
          <a:ln w="20320">
            <a:solidFill>
              <a:srgbClr val="1B1E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406640" y="3703320"/>
            <a:ext cx="4114800" cy="0"/>
          </a:xfrm>
          <a:prstGeom prst="bentConnector3">
            <a:avLst/>
          </a:prstGeom>
          <a:ln w="11430">
            <a:solidFill>
              <a:srgbClr val="BEBA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406640" y="4878324"/>
            <a:ext cx="4114800" cy="0"/>
          </a:xfrm>
          <a:prstGeom prst="bentConnector3">
            <a:avLst/>
          </a:prstGeom>
          <a:ln w="20320">
            <a:solidFill>
              <a:srgbClr val="1B1E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406640" y="5422392"/>
            <a:ext cx="4114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GRU는 site-disjoint에서 최우수이나 temporal에서 붕괴하여 게이트를 통과하지 못한다. 정적 tabular ALT는 GBM으로 충분하며, DL은 고차원 EO/SAR 입력에만 제한한다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92608"/>
            <a:ext cx="744605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 spc="3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영구동토 활성층 두께·얕은 3D 지중 열구조, 관측기반 GeoAI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71255" y="292608"/>
            <a:ext cx="2743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 spc="3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7 · 결과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7240" y="512064"/>
            <a:ext cx="10637215" cy="0"/>
          </a:xfrm>
          <a:prstGeom prst="bentConnector3">
            <a:avLst/>
          </a:prstGeom>
          <a:ln w="9525">
            <a:solidFill>
              <a:srgbClr val="D9D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77240" y="6455664"/>
            <a:ext cx="10637215" cy="0"/>
          </a:xfrm>
          <a:prstGeom prst="bentConnector3">
            <a:avLst/>
          </a:prstGeom>
          <a:ln w="9525">
            <a:solidFill>
              <a:srgbClr val="D9D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" y="6492240"/>
            <a:ext cx="638232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Polar_Bigdata · 진행 보고 (2026-07)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17175" y="6492240"/>
            <a:ext cx="10972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37215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 spc="8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8</a:t>
            </a:r>
            <a:r>
              <a:rPr sz="1050" b="0" i="0" spc="8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>  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7"/>
            <a:ext cx="1063721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B1E23"/>
                </a:solidFill>
                <a:latin typeface="Noto Serif CJK KR"/>
                <a:ea typeface="Noto Serif CJK KR"/>
                <a:cs typeface="Noto Serif CJK KR"/>
              </a:rPr>
              <a:t>데이터 확충과 딥러닝 고도화 게이트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19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데이터, 평가, 불확실성이 지렛대이다. DL은 고차원 입력과 시간축에서 게이트를 통과할 때만 확장한다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2011679"/>
            <a:ext cx="10637215" cy="0"/>
          </a:xfrm>
          <a:prstGeom prst="bentConnector3">
            <a:avLst/>
          </a:prstGeom>
          <a:ln w="16510">
            <a:solidFill>
              <a:srgbClr val="BEBA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2267712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데이터 확충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33472"/>
            <a:ext cx="53949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토양</a:t>
            </a:r>
            <a:r>
              <a:rPr sz="110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   SoilGrids(SOC·용적밀도·점토/모래)로 단열·잠열 결측을 보완하고 ablation M6에 반영한다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위성</a:t>
            </a:r>
            <a:r>
              <a:rPr sz="110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   Sentinel-1/2 시계열과 PolSAR를 확대한다. 고차원 encoder는 게이트 통과 시에만 채택한다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prior</a:t>
            </a:r>
            <a:r>
              <a:rPr sz="110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   ESA CCI ALT/GT 0–10m를 benchmark·prior·의사라벨 사전학습에 활용한다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시계열</a:t>
            </a:r>
            <a:r>
              <a:rPr sz="110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   PANGAEA CALM 1990–2024로 T-lite를 재검증한다(월별 forcing)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89320" y="2313432"/>
            <a:ext cx="0" cy="3657599"/>
          </a:xfrm>
          <a:prstGeom prst="bentConnector3">
            <a:avLst/>
          </a:prstGeom>
          <a:ln w="12700">
            <a:solidFill>
              <a:srgbClr val="D9D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17920" y="2267712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DL 고도화 게이트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633472"/>
            <a:ext cx="5212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정적 tabular</a:t>
            </a:r>
            <a:r>
              <a:rPr sz="110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   GBM으로 충분하므로 새 Transformer/MLP 추가는 중단한다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고차원 EO/SAR</a:t>
            </a:r>
            <a:r>
              <a:rPr sz="110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   CNN/ViT encoder는 handcrafted feature를 이길 때만 채택한다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시계열</a:t>
            </a:r>
            <a:r>
              <a:rPr sz="110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   GRU/TCN은 persistence·GBM을 초과할 때만 채택한다(현재 미통과)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full 4D</a:t>
            </a:r>
            <a:r>
              <a:rPr sz="110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   DeepONet/FNO는 후속 논문 후보로, 본 보고 범위 밖이다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5422392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0E5A61"/>
                </a:solidFill>
                <a:latin typeface="Pretendard SemiBold"/>
                <a:ea typeface="Pretendard SemiBold"/>
                <a:cs typeface="Pretendard SemiBold"/>
              </a:rPr>
              <a:t>원칙  </a:t>
            </a:r>
            <a:r>
              <a:rPr sz="1150" b="0" i="0">
                <a:solidFill>
                  <a:srgbClr val="3A4047"/>
                </a:solidFill>
                <a:latin typeface="Pretendard"/>
                <a:ea typeface="Pretendard"/>
                <a:cs typeface="Pretendard"/>
              </a:rPr>
              <a:t>모델을 복잡하게 만들기 전에 데이터 구조와 지표를 먼저 고정한다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2608"/>
            <a:ext cx="744605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 spc="3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영구동토 활성층 두께·얕은 3D 지중 열구조, 관측기반 GeoAI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71255" y="292608"/>
            <a:ext cx="2743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 spc="3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8 · 다음 단계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512064"/>
            <a:ext cx="10637215" cy="0"/>
          </a:xfrm>
          <a:prstGeom prst="bentConnector3">
            <a:avLst/>
          </a:prstGeom>
          <a:ln w="9525">
            <a:solidFill>
              <a:srgbClr val="D9D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77240" y="6455664"/>
            <a:ext cx="10637215" cy="0"/>
          </a:xfrm>
          <a:prstGeom prst="bentConnector3">
            <a:avLst/>
          </a:prstGeom>
          <a:ln w="9525">
            <a:solidFill>
              <a:srgbClr val="D9D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7240" y="6492240"/>
            <a:ext cx="638232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9096"/>
                </a:solidFill>
                <a:latin typeface="Pretendard Medium"/>
                <a:ea typeface="Pretendard Medium"/>
                <a:cs typeface="Pretendard Medium"/>
              </a:rPr>
              <a:t>Polar_Bigdata · 진행 보고 (2026-07)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17175" y="6492240"/>
            <a:ext cx="10972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C666E"/>
                </a:solidFill>
                <a:latin typeface="Pretendard Medium"/>
                <a:ea typeface="Pretendard Medium"/>
                <a:cs typeface="Pretendard Medium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A4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spc="120">
                <a:solidFill>
                  <a:srgbClr val="2C7D83"/>
                </a:solidFill>
                <a:latin typeface="Pretendard SemiBold"/>
                <a:ea typeface="Pretendard SemiBold"/>
                <a:cs typeface="Pretendard SemiBold"/>
              </a:rPr>
              <a:t>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07008"/>
            <a:ext cx="106372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Noto Serif CJK KR"/>
                <a:ea typeface="Noto Serif CJK KR"/>
                <a:cs typeface="Noto Serif CJK KR"/>
              </a:rPr>
              <a:t>정직하게 진단한 정보 병목을 데이터, 전이, 불확실성, 얕은 3D로 확장한다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2148840"/>
            <a:ext cx="10637215" cy="0"/>
          </a:xfrm>
          <a:prstGeom prst="bentConnector3">
            <a:avLst/>
          </a:prstGeom>
          <a:ln w="11430">
            <a:solidFill>
              <a:srgbClr val="2A4B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2395728"/>
            <a:ext cx="106372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C7D83"/>
                </a:solidFill>
                <a:latin typeface="Pretendard SemiBold"/>
                <a:ea typeface="Pretendard SemiBold"/>
                <a:cs typeface="Pretendard SemiBold"/>
              </a:rPr>
              <a:t>정보 병목 진단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B6C6CE"/>
                </a:solidFill>
                <a:latin typeface="Pretendard"/>
                <a:ea typeface="Pretendard"/>
                <a:cs typeface="Pretendard"/>
              </a:rPr>
              <a:t>정적 ALT는 GBM과 DL이 대등하다. 한계는 모델이 아니라 공변량 정보이며, 셀 재평가가 이를 확증한다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45536"/>
            <a:ext cx="106372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C7D83"/>
                </a:solidFill>
                <a:latin typeface="Pretendard SemiBold"/>
                <a:ea typeface="Pretendard SemiBold"/>
                <a:cs typeface="Pretendard SemiBold"/>
              </a:rPr>
              <a:t>정직한 평가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B6C6CE"/>
                </a:solidFill>
                <a:latin typeface="Pretendard"/>
                <a:ea typeface="Pretendard"/>
                <a:cs typeface="Pretendard"/>
              </a:rPr>
              <a:t>무작위 CV의 과대평가를 통제하고, 셀별 예측구간을 conformal로 보정한다(56%에서 86%로)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95344"/>
            <a:ext cx="106372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C7D83"/>
                </a:solidFill>
                <a:latin typeface="Pretendard SemiBold"/>
                <a:ea typeface="Pretendard SemiBold"/>
                <a:cs typeface="Pretendard SemiBold"/>
              </a:rPr>
              <a:t>지배 정보원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B6C6CE"/>
                </a:solidFill>
                <a:latin typeface="Pretendard"/>
                <a:ea typeface="Pretendard"/>
                <a:cs typeface="Pretendard"/>
              </a:rPr>
              <a:t>보간은 기후, 전이는 InSAR가 지배한다. 위치 대조군(위경도 skill 14.7%)이 정보 병목을 드러낸다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645152"/>
            <a:ext cx="106372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C7D83"/>
                </a:solidFill>
                <a:latin typeface="Pretendard SemiBold"/>
                <a:ea typeface="Pretendard SemiBold"/>
                <a:cs typeface="Pretendard SemiBold"/>
              </a:rPr>
              <a:t>게이트 규율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B6C6CE"/>
                </a:solidFill>
                <a:latin typeface="Pretendard"/>
                <a:ea typeface="Pretendard"/>
                <a:cs typeface="Pretendard"/>
              </a:rPr>
              <a:t>시계열 DL은 정적 GBM을 이기지 못해 부록으로 내린다. 근거 없는 확장을 배제한다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394960"/>
            <a:ext cx="106372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C7D83"/>
                </a:solidFill>
                <a:latin typeface="Pretendard SemiBold"/>
                <a:ea typeface="Pretendard SemiBold"/>
                <a:cs typeface="Pretendard SemiBold"/>
              </a:rPr>
              <a:t>다음 단계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B6C6CE"/>
                </a:solidFill>
                <a:latin typeface="Pretendard"/>
                <a:ea typeface="Pretendard"/>
                <a:cs typeface="Pretendard"/>
              </a:rPr>
              <a:t>SoilGrids와 CCI 확충으로 헤드룸을 검증하고, 관측기반 얕은 3D와 전이를 심화한다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7D929C"/>
                </a:solidFill>
                <a:latin typeface="Pretendard Medium"/>
                <a:ea typeface="Pretendard Medium"/>
                <a:cs typeface="Pretendard Medium"/>
              </a:rPr>
              <a:t>근거: data/processed/*_results.csv · 그림: deck/assets · 2026-07-10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